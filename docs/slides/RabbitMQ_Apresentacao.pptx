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828800"/>
            <a:ext cx="11686032" cy="32004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7899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F6600"/>
                </a:solidFill>
                <a:latin typeface="Calibri"/>
              </a:rPr>
              <a:t>RabbitMQ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Calibri"/>
              </a:rPr>
              <a:t>Mensageria em Sistemas Distribuídos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576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888888"/>
                </a:solidFill>
                <a:latin typeface="Calibri"/>
              </a:rPr>
              <a:t>Confiabilidade · Ordenação · Tolerância a Falhas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4133087"/>
            <a:ext cx="9445752" cy="3657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251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CCCC"/>
                </a:solidFill>
                <a:latin typeface="Calibri"/>
              </a:rPr>
              <a:t>Arthur Real Sanchotene Ferreira  ·  Caroline da Rocha de Lima  ·  Giovani da Silva Cancherini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645152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CCCC"/>
                </a:solidFill>
                <a:latin typeface="Calibri"/>
              </a:rPr>
              <a:t>Leonardo Vargas Schilling  ·  Osmar Sadi Nether Filho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102352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1">
                <a:solidFill>
                  <a:srgbClr val="888888"/>
                </a:solidFill>
                <a:latin typeface="Calibri"/>
              </a:rPr>
              <a:t>Sistemas Distribuídos —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34440"/>
            <a:ext cx="621792" cy="621792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34440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A1A2E"/>
                </a:solidFill>
                <a:latin typeface="Calibri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33272" y="1234440"/>
            <a:ext cx="5257800" cy="62179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61288" y="1344168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O que é — e por que existe?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984248"/>
            <a:ext cx="621792" cy="621792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984248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A1A2E"/>
                </a:solidFill>
                <a:latin typeface="Calibri"/>
              </a:rP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3272" y="1984248"/>
            <a:ext cx="5257800" cy="62179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61288" y="2093976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Arquitetura e Funcionalidades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734056"/>
            <a:ext cx="621792" cy="621792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734056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A1A2E"/>
                </a:solidFill>
                <a:latin typeface="Calibri"/>
              </a:rP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33272" y="2734056"/>
            <a:ext cx="5257800" cy="62179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61288" y="2843784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Tipos de Falhas Suportadas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483864"/>
            <a:ext cx="621792" cy="621792"/>
          </a:xfrm>
          <a:prstGeom prst="rect">
            <a:avLst/>
          </a:prstGeom>
          <a:solidFill>
            <a:srgbClr val="298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3483864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A1A2E"/>
                </a:solidFill>
                <a:latin typeface="Calibri"/>
              </a:rPr>
              <a:t>04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33272" y="3483864"/>
            <a:ext cx="5257800" cy="62179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61288" y="3593592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Confiabilidade — modelos formais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1234440"/>
            <a:ext cx="621792" cy="621792"/>
          </a:xfrm>
          <a:prstGeom prst="rect">
            <a:avLst/>
          </a:prstGeom>
          <a:solidFill>
            <a:srgbClr val="9B59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234440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A1A2E"/>
                </a:solidFill>
                <a:latin typeface="Calibri"/>
              </a:rPr>
              <a:t>05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22592" y="1234440"/>
            <a:ext cx="5257800" cy="62179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50608" y="1344168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Ordenação de Mensagens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1984248"/>
            <a:ext cx="621792" cy="621792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984248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A1A2E"/>
                </a:solidFill>
                <a:latin typeface="Calibri"/>
              </a:rPr>
              <a:t>06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22592" y="1984248"/>
            <a:ext cx="5257800" cy="62179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50608" y="2093976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Implementação Interna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2734056"/>
            <a:ext cx="621792" cy="621792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2734056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A1A2E"/>
                </a:solidFill>
                <a:latin typeface="Calibri"/>
              </a:rPr>
              <a:t>07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22592" y="2734056"/>
            <a:ext cx="5257800" cy="62179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50608" y="2843784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Demonstração Prática — TicketLab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O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  <a:latin typeface="Calibri"/>
              </a:rPr>
              <a:t>HTTP síncrono: uma cadeia que quebra pela parte mais fraca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78992"/>
            <a:ext cx="11274552" cy="3657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  <a:latin typeface="Calibri"/>
              </a:rPr>
              <a:t>Imagine o Lollapalooza abrindo vendas às 10h — 50.000 pessoas clicando ao mesmo tempo.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65960"/>
            <a:ext cx="7040880" cy="2103120"/>
          </a:xfrm>
          <a:prstGeom prst="rect">
            <a:avLst/>
          </a:prstGeom>
          <a:solidFill>
            <a:srgbClr val="0D0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057400"/>
            <a:ext cx="6821424" cy="1920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2ECC71"/>
                </a:solidFill>
                <a:latin typeface="Courier New"/>
              </a:rPr>
              <a:t>Usuário → API → chama Pagamento (aguarda 3s)</a:t>
            </a:r>
          </a:p>
          <a:p>
            <a:pPr algn="l"/>
            <a:r>
              <a:rPr sz="1150">
                <a:solidFill>
                  <a:srgbClr val="2ECC71"/>
                </a:solidFill>
                <a:latin typeface="Courier New"/>
              </a:rPr>
              <a:t>             → chama Estoque   (aguarda 1s)</a:t>
            </a:r>
          </a:p>
          <a:p>
            <a:pPr algn="l"/>
            <a:r>
              <a:rPr sz="1150">
                <a:solidFill>
                  <a:srgbClr val="2ECC71"/>
                </a:solidFill>
                <a:latin typeface="Courier New"/>
              </a:rPr>
              <a:t>             → chama Email     (aguarda 2s)</a:t>
            </a:r>
          </a:p>
          <a:p>
            <a:pPr algn="l"/>
            <a:r>
              <a:rPr sz="1150">
                <a:solidFill>
                  <a:srgbClr val="2ECC71"/>
                </a:solidFill>
                <a:latin typeface="Courier New"/>
              </a:rPr>
              <a:t>             ← responde após 6 segundos</a:t>
            </a:r>
          </a:p>
          <a:p>
            <a:pPr algn="l"/>
            <a:r>
              <a:rPr sz="1150">
                <a:solidFill>
                  <a:srgbClr val="2ECC71"/>
                </a:solidFill>
                <a:latin typeface="Courier New"/>
              </a:rPr>
              <a:t> </a:t>
            </a:r>
          </a:p>
          <a:p>
            <a:pPr algn="l"/>
            <a:r>
              <a:rPr sz="1150">
                <a:solidFill>
                  <a:srgbClr val="2ECC71"/>
                </a:solidFill>
                <a:latin typeface="Courier New"/>
              </a:rPr>
              <a:t>Se Pagamento demorar 30s   → Timeout. Usuário vê erro 500.</a:t>
            </a:r>
          </a:p>
          <a:p>
            <a:pPr algn="l"/>
            <a:r>
              <a:rPr sz="1150">
                <a:solidFill>
                  <a:srgbClr val="2ECC71"/>
                </a:solidFill>
                <a:latin typeface="Courier New"/>
              </a:rPr>
              <a:t>Se Estoque cair            → Toda a compra falha.</a:t>
            </a:r>
          </a:p>
          <a:p>
            <a:pPr algn="l"/>
            <a:r>
              <a:rPr sz="1150">
                <a:solidFill>
                  <a:srgbClr val="2ECC71"/>
                </a:solidFill>
                <a:latin typeface="Courier New"/>
              </a:rPr>
              <a:t>2 usuários simultâneos     → Overbooking possível.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4114800" cy="2103120"/>
          </a:xfrm>
          <a:prstGeom prst="rect">
            <a:avLst/>
          </a:prstGeom>
          <a:solidFill>
            <a:srgbClr val="30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73568" y="2029968"/>
            <a:ext cx="3794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74C3C"/>
                </a:solidFill>
                <a:latin typeface="Calibri"/>
              </a:rPr>
              <a:t>O que falha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73568" y="2395728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395728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Timeout em cascata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3568" y="2779776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779776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Falha se qualquer
serviço cair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3163824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3163824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Overbooking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8" y="3547872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3547872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Thread presa até o fim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73568" y="3931920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3931920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Escalar = problema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160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6600"/>
                </a:solidFill>
                <a:latin typeface="Calibri"/>
              </a:rPr>
              <a:t>▸ Dica: abrir no browser antes da apresentação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434840"/>
            <a:ext cx="11274552" cy="214884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4632" y="4462272"/>
            <a:ext cx="11219688" cy="2093976"/>
          </a:xfrm>
          <a:prstGeom prst="rect">
            <a:avLst/>
          </a:prstGeom>
          <a:solidFill>
            <a:srgbClr val="14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4526279"/>
            <a:ext cx="11000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600"/>
                </a:solidFill>
                <a:latin typeface="Calibri"/>
              </a:rPr>
              <a:t>[ VÍDEO OPCIONAL — SUBSTITUIR 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846319"/>
            <a:ext cx="110002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'RabbitMQ in 100 Seconds' — Fireship (YouTube)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5303520"/>
            <a:ext cx="1100023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CC"/>
                </a:solidFill>
                <a:latin typeface="Calibri"/>
              </a:rPr>
              <a:t>Buscar: 'RabbitMQ in 100 Seconds Fireship' | Abrir no browser, reproduzir primeiros 45 segundos.
Mostra o problema do HTTP síncrono de forma animada. Pausar antes do slide 4.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A Solução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  <a:latin typeface="Calibri"/>
              </a:rPr>
              <a:t>Desacoplar produção de consumo via broker de mensagens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78992"/>
            <a:ext cx="11274552" cy="3657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1691640" cy="822960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Usuário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1828800"/>
            <a:ext cx="1691640" cy="822960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440" y="182880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API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828800"/>
            <a:ext cx="1691640" cy="82296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182880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Fila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828800"/>
            <a:ext cx="1691640" cy="8229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82880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worker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66760" y="1828800"/>
            <a:ext cx="1691640" cy="8229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182880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worker 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0" y="1828800"/>
            <a:ext cx="1691640" cy="8229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0" y="182880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worker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202996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6600"/>
                </a:solidFill>
                <a:latin typeface="Calibri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202996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6600"/>
                </a:solidFill>
                <a:latin typeface="Calibri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202996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6600"/>
                </a:solidFill>
                <a:latin typeface="Calibr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8120" y="202996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6600"/>
                </a:solidFill>
                <a:latin typeface="Calibri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66960" y="202996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6600"/>
                </a:solidFill>
                <a:latin typeface="Calibr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77440" y="2788920"/>
            <a:ext cx="3611880" cy="384048"/>
          </a:xfrm>
          <a:prstGeom prst="rect">
            <a:avLst/>
          </a:prstGeom>
          <a:solidFill>
            <a:srgbClr val="0530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514600" y="28346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ECC71"/>
                </a:solidFill>
                <a:latin typeface="Calibri"/>
              </a:rPr>
              <a:t>↩  API responde imediato: { "status": "pending" }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383280"/>
            <a:ext cx="3657600" cy="25603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383280"/>
            <a:ext cx="3657600" cy="438912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3438144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Calibri"/>
              </a:rPr>
              <a:t>Resposta imediata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3886200"/>
            <a:ext cx="3429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CCCCC"/>
                </a:solidFill>
                <a:latin typeface="Calibri"/>
              </a:rPr>
              <a:t>API retorna na hora. Processamento ocorre em background.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3383280"/>
            <a:ext cx="3657600" cy="25603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43400" y="3383280"/>
            <a:ext cx="3657600" cy="438912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53128" y="3438144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Calibri"/>
              </a:rPr>
              <a:t>Workers independentes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53128" y="3886200"/>
            <a:ext cx="3429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CCCCC"/>
                </a:solidFill>
                <a:latin typeface="Calibri"/>
              </a:rPr>
              <a:t>Cada etapa é um serviço separado. Falha num não para os outros.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0" y="3383280"/>
            <a:ext cx="3657600" cy="25603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0" y="3383280"/>
            <a:ext cx="3657600" cy="438912"/>
          </a:xfrm>
          <a:prstGeom prst="rect">
            <a:avLst/>
          </a:prstGeom>
          <a:solidFill>
            <a:srgbClr val="298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39327" y="3438144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Calibri"/>
              </a:rPr>
              <a:t>Escalabilidade natural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39327" y="3886200"/>
            <a:ext cx="3429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CCCCC"/>
                </a:solidFill>
                <a:latin typeface="Calibri"/>
              </a:rPr>
              <a:t>Adicionar workers = aumentar throughput sem mudar a API.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O que é o RabbitMQ?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  <a:latin typeface="Calibri"/>
              </a:rPr>
              <a:t>Message broker open-source — o intermediário confiável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78992"/>
            <a:ext cx="11274552" cy="3657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3749039" cy="49377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508760"/>
            <a:ext cx="3749039" cy="54864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5544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1A2E"/>
                </a:solidFill>
                <a:latin typeface="Calibri"/>
              </a:rPr>
              <a:t>Message Broker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148840"/>
            <a:ext cx="3474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  <a:latin typeface="Calibri"/>
              </a:rPr>
              <a:t>Intermediário entre quem envia e quem recebe mensagens.
Desacopla produtor de consumidor no tempo e no espaço.
Não é um banco de dados — é um canal confiável.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508760"/>
            <a:ext cx="3749039" cy="49377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508760"/>
            <a:ext cx="3749039" cy="54864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5544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1A2E"/>
                </a:solidFill>
                <a:latin typeface="Calibri"/>
              </a:rPr>
              <a:t>Protocolo AMQP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148840"/>
            <a:ext cx="3474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  <a:latin typeface="Calibri"/>
              </a:rPr>
              <a:t>Implementa AMQP 0-9-1 (Advanced Message Queuing Protocol).
Protocolo aberto, binário, com semântica bem definida de ACK.
Também suporta STOMP, MQTT e AMQP 1.0 via plugins.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508760"/>
            <a:ext cx="3749039" cy="49377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1508760"/>
            <a:ext cx="3749039" cy="548640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15544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1A2E"/>
                </a:solidFill>
                <a:latin typeface="Calibri"/>
              </a:rPr>
              <a:t>Erlang / OTP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148840"/>
            <a:ext cx="3474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  <a:latin typeface="Calibri"/>
              </a:rPr>
              <a:t>Escrito em Erlang — linguagem criada para sistemas de telecom
com 99,9999999% de disponibilidade (nine nines).
Isolamento de processos e recuperação de falhas nativos.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Onde é utilizado?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  <a:latin typeface="Calibri"/>
              </a:rPr>
              <a:t>Qualquer sistema que precisa desacoplar e escalar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78992"/>
            <a:ext cx="11274552" cy="3657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08760"/>
            <a:ext cx="2103120" cy="49377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508760"/>
            <a:ext cx="2103120" cy="47548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55448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1A1A2E"/>
                </a:solidFill>
                <a:latin typeface="Calibri"/>
              </a:rPr>
              <a:t>E-commerce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2057400"/>
            <a:ext cx="1920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Checkout → pagamento → estoque → notificação.
Exatamente o nosso projeto TicketLab.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0" y="1508760"/>
            <a:ext cx="2103120" cy="49377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1760" y="1508760"/>
            <a:ext cx="2103120" cy="475488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55448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1A1A2E"/>
                </a:solidFill>
                <a:latin typeface="Calibri"/>
              </a:rPr>
              <a:t>Sistemas bancários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057400"/>
            <a:ext cx="1920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Processamento assíncrono de transações.
Auditoria e filas de conciliação.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83480" y="1508760"/>
            <a:ext cx="2103120" cy="49377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83480" y="1508760"/>
            <a:ext cx="2103120" cy="475488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74920" y="155448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1A1A2E"/>
                </a:solidFill>
                <a:latin typeface="Calibri"/>
              </a:rPr>
              <a:t>IoT e sensores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2057400"/>
            <a:ext cx="1920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Ingestão de eventos de milhares de dispositivos.
Fanout para múltiplos consumidores analíticos.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0" y="1508760"/>
            <a:ext cx="2103120" cy="49377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0" y="1508760"/>
            <a:ext cx="2103120" cy="475488"/>
          </a:xfrm>
          <a:prstGeom prst="rect">
            <a:avLst/>
          </a:prstGeom>
          <a:solidFill>
            <a:srgbClr val="298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0" y="155448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1A1A2E"/>
                </a:solidFill>
                <a:latin typeface="Calibri"/>
              </a:rPr>
              <a:t>Microserviços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2057400"/>
            <a:ext cx="1920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Comunicação entre bounded contexts sem acoplamento temporal.
Event-driven architecture.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46920" y="1508760"/>
            <a:ext cx="2103120" cy="49377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46920" y="1508760"/>
            <a:ext cx="2103120" cy="475488"/>
          </a:xfrm>
          <a:prstGeom prst="rect">
            <a:avLst/>
          </a:prstGeom>
          <a:solidFill>
            <a:srgbClr val="9B59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38360" y="155448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1A1A2E"/>
                </a:solidFill>
                <a:latin typeface="Calibri"/>
              </a:rPr>
              <a:t>Reservas / Ingressos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2057400"/>
            <a:ext cx="1920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Controle de concorrência em estoque limitado.
Fila garante que só um worker por vez altera o estoque.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Arquitetura Interna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  <a:latin typeface="Calibri"/>
              </a:rPr>
              <a:t>Producer → Exchange → Queue → Consumer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78992"/>
            <a:ext cx="11274552" cy="3657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6949440" cy="438912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84632" y="1490472"/>
            <a:ext cx="6894576" cy="4334256"/>
          </a:xfrm>
          <a:prstGeom prst="rect">
            <a:avLst/>
          </a:prstGeom>
          <a:solidFill>
            <a:srgbClr val="14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6675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600"/>
                </a:solidFill>
                <a:latin typeface="Calibri"/>
              </a:rPr>
              <a:t>[ IMAGEM — SUBSTITUIR 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874519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Diagrama oficial — Producer → Exchange → Queue → Consumer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331720"/>
            <a:ext cx="6675120" cy="33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CC"/>
                </a:solidFill>
                <a:latin typeface="Calibri"/>
              </a:rPr>
              <a:t>Buscar: 'RabbitMQ Hello World tutorial diagram' em rabbitmq.com/tutorials
Copiar a imagem do tutorial 'Hello World' (fundo branco, setas claras).
Substituir este placeholder. Redimensionar para ocupar o espaço.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80960" y="1463040"/>
            <a:ext cx="4297680" cy="98755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0" y="1463040"/>
            <a:ext cx="164592" cy="987552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36992" y="1517904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600"/>
                </a:solidFill>
                <a:latin typeface="Calibri"/>
              </a:rPr>
              <a:t>Producer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6992" y="1865376"/>
            <a:ext cx="3840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Envia mensagens para o Exchange. Não conhece as filas.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0" y="2560320"/>
            <a:ext cx="4297680" cy="98755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0" y="2560320"/>
            <a:ext cx="164592" cy="987552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2615184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Exchange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962656"/>
            <a:ext cx="3840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Recebe e roteia via Binding + Routing Key. Não armazena.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80960" y="3657600"/>
            <a:ext cx="4297680" cy="98755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80960" y="3657600"/>
            <a:ext cx="164592" cy="987552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36992" y="3712463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CC71"/>
                </a:solidFill>
                <a:latin typeface="Calibri"/>
              </a:rPr>
              <a:t>Queue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36992" y="4059936"/>
            <a:ext cx="3840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Armazena mensagens até o consumer estar pronto.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960" y="4754879"/>
            <a:ext cx="4297680" cy="98755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80960" y="4754879"/>
            <a:ext cx="164592" cy="987552"/>
          </a:xfrm>
          <a:prstGeom prst="rect">
            <a:avLst/>
          </a:prstGeom>
          <a:solidFill>
            <a:srgbClr val="298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36992" y="4809743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980B9"/>
                </a:solidFill>
                <a:latin typeface="Calibri"/>
              </a:rPr>
              <a:t>Consumer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36992" y="5157216"/>
            <a:ext cx="3840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Processa e envia ACK. Só então o broker remove da fila.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6600"/>
                </a:solidFill>
                <a:latin typeface="Calibri"/>
              </a:rPr>
              <a:t>ARQUITETURA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Exchange Direct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78407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  <a:latin typeface="Calibri"/>
              </a:rPr>
              <a:t>Como usamos no TicketLab — roteamento pela chave exata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07592"/>
            <a:ext cx="11274552" cy="3657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6858000" cy="438912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4632" y="1490472"/>
            <a:ext cx="6803136" cy="4334256"/>
          </a:xfrm>
          <a:prstGeom prst="rect">
            <a:avLst/>
          </a:prstGeom>
          <a:solidFill>
            <a:srgbClr val="14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600"/>
                </a:solidFill>
                <a:latin typeface="Calibri"/>
              </a:rPr>
              <a:t>[ IMAGEM — SUBSTITUIR 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874519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Direct Exchange — routing_key exata roteia para a fila correspondente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331720"/>
            <a:ext cx="6583680" cy="33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CC"/>
                </a:solidFill>
                <a:latin typeface="Calibri"/>
              </a:rPr>
              <a:t>Buscar: 'RabbitMQ direct exchange diagram' em cloudamqp.com/blog/rabbitmq-exchanges-tutorial.html
CloudAMQP tem diagramas limpos e coloridos para cada tipo. Usar o de Direct Exchange.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146304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6600"/>
                </a:solidFill>
                <a:latin typeface="Calibri"/>
              </a:rPr>
              <a:t>No TicketLab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9520" y="1901952"/>
            <a:ext cx="4480560" cy="1280160"/>
          </a:xfrm>
          <a:prstGeom prst="rect">
            <a:avLst/>
          </a:prstGeom>
          <a:solidFill>
            <a:srgbClr val="0D0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99248" y="1993392"/>
            <a:ext cx="42611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ticket-sales    → routing_key='payment'   → payment-queue</a:t>
            </a:r>
          </a:p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payment-approved → routing_key='stock'    → stock-queue</a:t>
            </a:r>
          </a:p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stock-confirmed  → routing_key='notification' → notification-queue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3291840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Por que Direct?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3657600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600"/>
                </a:solidFill>
                <a:latin typeface="Calibri"/>
              </a:rPr>
              <a:t>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82128" y="3657600"/>
            <a:ext cx="4187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Pipeline linear: cada etapa
tem uma fila dedicada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4114800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600"/>
                </a:solidFill>
                <a:latin typeface="Calibri"/>
              </a:rPr>
              <a:t>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82128" y="4114800"/>
            <a:ext cx="4187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Routing simples e previsível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4572000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600"/>
                </a:solidFill>
                <a:latin typeface="Calibri"/>
              </a:rPr>
              <a:t>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82128" y="4572000"/>
            <a:ext cx="4187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Fácil de monitorar no
Management UI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6600"/>
                </a:solidFill>
                <a:latin typeface="Calibri"/>
              </a:rPr>
              <a:t>ARQUITETURA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Outros Tipos de Exchange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78407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  <a:latin typeface="Calibri"/>
              </a:rPr>
              <a:t>Fanout · Topic · Headers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07592"/>
            <a:ext cx="11274552" cy="3657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9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463040"/>
            <a:ext cx="3749039" cy="29260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463040"/>
            <a:ext cx="3749039" cy="475488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1508760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1A2E"/>
                </a:solidFill>
                <a:latin typeface="Calibri"/>
              </a:rPr>
              <a:t>Fanout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2029968"/>
            <a:ext cx="352044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CCCCC"/>
                </a:solidFill>
                <a:latin typeface="Calibri"/>
              </a:rPr>
              <a:t>Copia para TODAS as filas vinculadas.
Ignora routing key.
Uso: broadcast de eventos (logs, auditoria, notificações globais).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4480560"/>
            <a:ext cx="3749039" cy="201168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7472" y="4507992"/>
            <a:ext cx="3694176" cy="1956816"/>
          </a:xfrm>
          <a:prstGeom prst="rect">
            <a:avLst/>
          </a:prstGeom>
          <a:solidFill>
            <a:srgbClr val="14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5720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600"/>
                </a:solidFill>
                <a:latin typeface="Calibri"/>
              </a:rPr>
              <a:t>[ IMAGEM — SUBSTITUIR 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8920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Diagrama Fanout Exchange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34924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CC"/>
                </a:solidFill>
                <a:latin typeface="Calibri"/>
              </a:rPr>
              <a:t>Buscar: 'RabbitMQ fanout exchange diagram' cloudamqp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79" y="1463040"/>
            <a:ext cx="3749039" cy="29260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7679" y="1463040"/>
            <a:ext cx="3749039" cy="475488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07407" y="1508760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1A2E"/>
                </a:solidFill>
                <a:latin typeface="Calibri"/>
              </a:rPr>
              <a:t>Topic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7" y="2029968"/>
            <a:ext cx="352044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CCCCC"/>
                </a:solidFill>
                <a:latin typeface="Calibri"/>
              </a:rPr>
              <a:t>Padrão com wildcards: * (uma palavra) e # (zero ou mais).
'order.#' captura 'order.created', 'order.paid'...
Uso: sistemas de eventos flexíveis.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79" y="4480560"/>
            <a:ext cx="3749039" cy="201168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25112" y="4507992"/>
            <a:ext cx="3694176" cy="1956816"/>
          </a:xfrm>
          <a:prstGeom prst="rect">
            <a:avLst/>
          </a:prstGeom>
          <a:solidFill>
            <a:srgbClr val="14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34840" y="45720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600"/>
                </a:solidFill>
                <a:latin typeface="Calibri"/>
              </a:rPr>
              <a:t>[ IMAGEM — SUBSTITUIR 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48920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Diagrama Topic Exchange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534924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CC"/>
                </a:solidFill>
                <a:latin typeface="Calibri"/>
              </a:rPr>
              <a:t>Buscar: 'RabbitMQ topic exchange diagram' cloudamqp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75319" y="1463040"/>
            <a:ext cx="3749039" cy="29260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75319" y="1463040"/>
            <a:ext cx="3749039" cy="475488"/>
          </a:xfrm>
          <a:prstGeom prst="rect">
            <a:avLst/>
          </a:prstGeom>
          <a:solidFill>
            <a:srgbClr val="9B59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85047" y="1508760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1A2E"/>
                </a:solidFill>
                <a:latin typeface="Calibri"/>
              </a:rPr>
              <a:t>Headers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5047" y="2029968"/>
            <a:ext cx="352044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CCCCC"/>
                </a:solidFill>
                <a:latin typeface="Calibri"/>
              </a:rPr>
              <a:t>Roteia por atributos do cabeçalho AMQP.
Mais expressivo que Topic, mais raro na prática.
Uso: roteamento por metadados arbitrários.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75319" y="4480560"/>
            <a:ext cx="3749039" cy="201168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302751" y="4507992"/>
            <a:ext cx="3694176" cy="1956816"/>
          </a:xfrm>
          <a:prstGeom prst="rect">
            <a:avLst/>
          </a:prstGeom>
          <a:solidFill>
            <a:srgbClr val="14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0" y="45720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600"/>
                </a:solidFill>
                <a:latin typeface="Calibri"/>
              </a:rPr>
              <a:t>[ IMAGEM — SUBSTITUIR 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48920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Diagrama Headers Exchange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534924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CC"/>
                </a:solidFill>
                <a:latin typeface="Calibri"/>
              </a:rPr>
              <a:t>Buscar: 'RabbitMQ headers exchange diagram' cloudamqp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6600"/>
                </a:solidFill>
                <a:latin typeface="Calibri"/>
              </a:rPr>
              <a:t>ARQUITETURA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Funcionalidades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78407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  <a:latin typeface="Calibri"/>
              </a:rPr>
              <a:t>O que o RabbitMQ oferece além do roteamento básico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07592"/>
            <a:ext cx="11274552" cy="3657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508760"/>
            <a:ext cx="5577840" cy="98755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508760"/>
            <a:ext cx="164592" cy="987552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72768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600"/>
                </a:solidFill>
                <a:latin typeface="Calibri"/>
              </a:rPr>
              <a:t>Mensagens Persistentes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47672"/>
            <a:ext cx="5074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delivery_mode=PERSISTENT → grava em disco antes de confirmar. Sem isso, reinício apaga tudo.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01968" y="1508760"/>
            <a:ext cx="5577840" cy="98755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01968" y="1508760"/>
            <a:ext cx="164592" cy="987552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76288" y="1572768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600"/>
                </a:solidFill>
                <a:latin typeface="Calibri"/>
              </a:rPr>
              <a:t>Filas Durable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76288" y="1947672"/>
            <a:ext cx="5074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Metadados da fila ficam no disco. Broker reinicia → fila existe e mensagens voltam.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697480"/>
            <a:ext cx="5577840" cy="98755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2697480"/>
            <a:ext cx="164592" cy="987552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761488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CC71"/>
                </a:solidFill>
                <a:latin typeface="Calibri"/>
              </a:rPr>
              <a:t>ACK Manual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136392"/>
            <a:ext cx="5074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Consumer confirma só após processar e salvar. Broker só remove ao receber ACK.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1968" y="2697480"/>
            <a:ext cx="5577840" cy="98755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01968" y="2697480"/>
            <a:ext cx="164592" cy="987552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76288" y="2761488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CC71"/>
                </a:solidFill>
                <a:latin typeface="Calibri"/>
              </a:rPr>
              <a:t>Dead Letter Exchange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76288" y="3136392"/>
            <a:ext cx="5074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NACK sem requeue → DLX → Dead Letter Queue para análise e reprocessamento.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886200"/>
            <a:ext cx="5577840" cy="98755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3886200"/>
            <a:ext cx="164592" cy="987552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3950208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QoS / Prefetch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325112"/>
            <a:ext cx="5074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prefetch_count limita msgs em voo por consumer. Backpressure automático.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01968" y="3886200"/>
            <a:ext cx="5577840" cy="98755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601968" y="3886200"/>
            <a:ext cx="164592" cy="987552"/>
          </a:xfrm>
          <a:prstGeom prst="rect">
            <a:avLst/>
          </a:prstGeom>
          <a:solidFill>
            <a:srgbClr val="298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76288" y="3950208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980B9"/>
                </a:solidFill>
                <a:latin typeface="Calibri"/>
              </a:rPr>
              <a:t>Management UI / API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4325112"/>
            <a:ext cx="5074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Interface web + HTTP API para monitorar filas, consumers e publicar msgs.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6600"/>
                </a:solidFill>
                <a:latin typeface="Calibri"/>
              </a:rPr>
              <a:t>FALHAS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Falha 1: Crash-stop do Worker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78407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  <a:latin typeface="Calibri"/>
              </a:rPr>
              <a:t>O container morre — nenhuma mensagem se perde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07592"/>
            <a:ext cx="11274552" cy="3657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508760"/>
            <a:ext cx="2011680" cy="91440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50876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Fila
payment-queue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26080" y="1508760"/>
            <a:ext cx="2011680" cy="914400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0" y="150876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Worker A
(processando)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1508760"/>
            <a:ext cx="2011680" cy="914400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0" y="150876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Worker B
(aguardando)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1783080"/>
            <a:ext cx="320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6600"/>
                </a:solidFill>
                <a:latin typeface="Calibri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783080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888888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0" y="2651760"/>
            <a:ext cx="2011680" cy="502920"/>
          </a:xfrm>
          <a:prstGeom prst="rect">
            <a:avLst/>
          </a:prstGeom>
          <a:solidFill>
            <a:srgbClr val="40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17520" y="269748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  <a:latin typeface="Calibri"/>
              </a:rPr>
              <a:t>✗  Worker A cai (SIGKILL)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320040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6600"/>
                </a:solidFill>
                <a:latin typeface="Calibri"/>
              </a:rPr>
              <a:t>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26080" y="3657600"/>
            <a:ext cx="2011680" cy="621792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9232" y="3675887"/>
            <a:ext cx="187451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39C12"/>
                </a:solidFill>
                <a:latin typeface="Calibri"/>
              </a:rPr>
              <a:t>msgs unacked
voltam para ready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858768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ECC71"/>
                </a:solidFill>
                <a:latin typeface="Calibr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94960" y="3657600"/>
            <a:ext cx="2011680" cy="621792"/>
          </a:xfrm>
          <a:prstGeom prst="rect">
            <a:avLst/>
          </a:prstGeom>
          <a:solidFill>
            <a:srgbClr val="0A3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94960" y="3675887"/>
            <a:ext cx="20116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ECC71"/>
                </a:solidFill>
                <a:latin typeface="Calibri"/>
              </a:rPr>
              <a:t>Worker B
assume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0" y="1508760"/>
            <a:ext cx="4206240" cy="32461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09560" y="1572768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600"/>
                </a:solidFill>
                <a:latin typeface="Calibri"/>
              </a:rPr>
              <a:t>Por que não perde mensagens?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09560" y="1993392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600"/>
                </a:solidFill>
                <a:latin typeface="Calibri"/>
              </a:rPr>
              <a:t>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02168" y="1993392"/>
            <a:ext cx="3639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TCP disconnect detectado
→ RabbitMQ libera msgs unacked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09560" y="2432304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600"/>
                </a:solidFill>
                <a:latin typeface="Calibri"/>
              </a:rPr>
              <a:t>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2168" y="2432304"/>
            <a:ext cx="3639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Outras msgs na fila:
estado ready, esperando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09560" y="2871216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600"/>
                </a:solidFill>
                <a:latin typeface="Calibri"/>
              </a:rPr>
              <a:t>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02168" y="2871216"/>
            <a:ext cx="3639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Worker B (ou C) pega
as mensagens liberadas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09560" y="3310128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600"/>
                </a:solidFill>
                <a:latin typeface="Calibri"/>
              </a:rPr>
              <a:t>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02168" y="3310128"/>
            <a:ext cx="3639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Sem intervenção manual —
automático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846320"/>
            <a:ext cx="7132320" cy="1005840"/>
          </a:xfrm>
          <a:prstGeom prst="rect">
            <a:avLst/>
          </a:prstGeom>
          <a:solidFill>
            <a:srgbClr val="0D0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4937759"/>
            <a:ext cx="69128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ECC71"/>
                </a:solidFill>
                <a:latin typeface="Courier New"/>
              </a:rPr>
              <a:t>make send-1000      # enche a fila</a:t>
            </a:r>
          </a:p>
          <a:p>
            <a:pPr algn="l"/>
            <a:r>
              <a:rPr sz="1200">
                <a:solidFill>
                  <a:srgbClr val="2ECC71"/>
                </a:solidFill>
                <a:latin typeface="Courier New"/>
              </a:rPr>
              <a:t>make kill-payment   # mata um worker abruptamente</a:t>
            </a:r>
          </a:p>
          <a:p>
            <a:pPr algn="l"/>
            <a:r>
              <a:rPr sz="1200">
                <a:solidFill>
                  <a:srgbClr val="2ECC71"/>
                </a:solidFill>
                <a:latin typeface="Courier New"/>
              </a:rPr>
              <a:t>make logs-payment   # ver outro worker assumindo as mensagens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0" y="4846320"/>
            <a:ext cx="4206240" cy="100584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99831" y="4873752"/>
            <a:ext cx="4151376" cy="950976"/>
          </a:xfrm>
          <a:prstGeom prst="rect">
            <a:avLst/>
          </a:prstGeom>
          <a:solidFill>
            <a:srgbClr val="14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09560" y="4937759"/>
            <a:ext cx="3931920" cy="251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600"/>
                </a:solidFill>
                <a:latin typeface="Calibri"/>
              </a:rPr>
              <a:t>[ GIF / SCREENSHOT — SUBSTITUIR 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09560" y="5234940"/>
            <a:ext cx="3931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Terminal: make kill-payment + make logs-payment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09560" y="5715000"/>
            <a:ext cx="393192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CC"/>
                </a:solidFill>
                <a:latin typeface="Calibri"/>
              </a:rPr>
              <a:t>Gravar GIF do terminal com ScreenToGif (Windows) ou OBS executando os 3 comandos acima.
Alt: screenshot de logs mostrando outro worker retomando msgs.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6600"/>
                </a:solidFill>
                <a:latin typeface="Calibri"/>
              </a:rPr>
              <a:t>FALHAS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Falha 2: Crash-recovery + Retry + DLQ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78407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  <a:latin typeface="Calibri"/>
              </a:rPr>
              <a:t>O broker reinicia · A lógica falha · O destino final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07592"/>
            <a:ext cx="11274552" cy="3657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508760"/>
            <a:ext cx="3749039" cy="48463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508760"/>
            <a:ext cx="3749039" cy="438912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554480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  <a:latin typeface="Calibri"/>
              </a:rPr>
              <a:t>Crash-recovery do Broker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011680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600"/>
                </a:solidFill>
                <a:latin typeface="Calibri"/>
              </a:rPr>
              <a:t>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2011680"/>
            <a:ext cx="3182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RabbitMQ reinicia
(docker restart)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450592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600"/>
                </a:solidFill>
                <a:latin typeface="Calibri"/>
              </a:rPr>
              <a:t>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" y="2450592"/>
            <a:ext cx="3182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Mensagens PERSISTENT +
filas durable → no disco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889504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600"/>
                </a:solidFill>
                <a:latin typeface="Calibri"/>
              </a:rPr>
              <a:t>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889504"/>
            <a:ext cx="3182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Workers reconectam
automaticamente (connect_robust)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328416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600"/>
                </a:solidFill>
                <a:latin typeface="Calibri"/>
              </a:rPr>
              <a:t>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8" y="3328416"/>
            <a:ext cx="3182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Sistema retoma de onde parou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931920"/>
            <a:ext cx="3474720" cy="594360"/>
          </a:xfrm>
          <a:prstGeom prst="rect">
            <a:avLst/>
          </a:prstGeom>
          <a:solidFill>
            <a:srgbClr val="0D0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4023359"/>
            <a:ext cx="325526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ECC71"/>
                </a:solidFill>
                <a:latin typeface="Courier New"/>
              </a:rPr>
              <a:t>make restart-rabbit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572000"/>
            <a:ext cx="3474720" cy="82296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0352" y="4599432"/>
            <a:ext cx="3419856" cy="768096"/>
          </a:xfrm>
          <a:prstGeom prst="rect">
            <a:avLst/>
          </a:prstGeom>
          <a:solidFill>
            <a:srgbClr val="14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663440"/>
            <a:ext cx="3200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600"/>
                </a:solidFill>
                <a:latin typeface="Calibri"/>
              </a:rPr>
              <a:t>[ SCREENSHOT — SUBSTITUIR 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914899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RabbitMQ UI após restart — filas com mensagens intactas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0" y="1508760"/>
            <a:ext cx="7498079" cy="48463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43400" y="1508760"/>
            <a:ext cx="7498079" cy="438912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98848" y="1554480"/>
            <a:ext cx="7223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  <a:latin typeface="Calibri"/>
              </a:rPr>
              <a:t>Retry com Dead Letter Queue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98848" y="2011680"/>
            <a:ext cx="7178040" cy="2331720"/>
          </a:xfrm>
          <a:prstGeom prst="rect">
            <a:avLst/>
          </a:prstGeom>
          <a:solidFill>
            <a:srgbClr val="0D0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08576" y="2103120"/>
            <a:ext cx="6958583" cy="2148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2ECC71"/>
                </a:solidFill>
                <a:latin typeface="Courier New"/>
              </a:rPr>
              <a:t>msg → worker → lógica falha (RuntimeError)</a:t>
            </a:r>
          </a:p>
          <a:p>
            <a:pPr algn="l"/>
            <a:r>
              <a:rPr sz="1150">
                <a:solidFill>
                  <a:srgbClr val="2ECC71"/>
                </a:solidFill>
                <a:latin typeface="Courier New"/>
              </a:rPr>
              <a:t>  → republica com x-retry-count: 1 → ACK original</a:t>
            </a:r>
          </a:p>
          <a:p>
            <a:pPr algn="l"/>
            <a:r>
              <a:rPr sz="1150">
                <a:solidFill>
                  <a:srgbClr val="2ECC71"/>
                </a:solidFill>
                <a:latin typeface="Courier New"/>
              </a:rPr>
              <a:t>  → falha de novo → x-retry-count: 2</a:t>
            </a:r>
          </a:p>
          <a:p>
            <a:pPr algn="l"/>
            <a:r>
              <a:rPr sz="1150">
                <a:solidFill>
                  <a:srgbClr val="2ECC71"/>
                </a:solidFill>
                <a:latin typeface="Courier New"/>
              </a:rPr>
              <a:t>  → falha de novo → x-retry-count: 3</a:t>
            </a:r>
          </a:p>
          <a:p>
            <a:pPr algn="l"/>
            <a:r>
              <a:rPr sz="1150">
                <a:solidFill>
                  <a:srgbClr val="2ECC71"/>
                </a:solidFill>
                <a:latin typeface="Courier New"/>
              </a:rPr>
              <a:t>  → max_retries atingido!</a:t>
            </a:r>
          </a:p>
          <a:p>
            <a:pPr algn="l"/>
            <a:r>
              <a:rPr sz="1150">
                <a:solidFill>
                  <a:srgbClr val="2ECC71"/>
                </a:solidFill>
                <a:latin typeface="Courier New"/>
              </a:rPr>
              <a:t>  → NACK(requeue=False) → dead-letter-exchange → dead-letter-queue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98848" y="4434840"/>
            <a:ext cx="7178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600"/>
                </a:solidFill>
                <a:latin typeface="Calibri"/>
              </a:rPr>
              <a:t>Depois do make send-failures: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98848" y="4800600"/>
            <a:ext cx="7178040" cy="59436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26280" y="4828032"/>
            <a:ext cx="7123176" cy="539496"/>
          </a:xfrm>
          <a:prstGeom prst="rect">
            <a:avLst/>
          </a:prstGeom>
          <a:solidFill>
            <a:srgbClr val="14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36008" y="4892040"/>
            <a:ext cx="6903720" cy="148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600"/>
                </a:solidFill>
                <a:latin typeface="Calibri"/>
              </a:rPr>
              <a:t>[ SCREENSHOT — SUBSTITUIR 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36008" y="5086349"/>
            <a:ext cx="6903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RabbitMQ UI — dead-letter-queue com N mensagens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6600"/>
                </a:solidFill>
                <a:latin typeface="Calibri"/>
              </a:rPr>
              <a:t>FALHAS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Modelos de Falha — Resumo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78407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  <a:latin typeface="Calibri"/>
              </a:rPr>
              <a:t>O que suportamos vs. o que não suportamos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07592"/>
            <a:ext cx="11274552" cy="3657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13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508760"/>
            <a:ext cx="5577840" cy="4846320"/>
          </a:xfrm>
          <a:prstGeom prst="rect">
            <a:avLst/>
          </a:prstGeom>
          <a:solidFill>
            <a:srgbClr val="082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57276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CC71"/>
                </a:solidFill>
                <a:latin typeface="Calibri"/>
              </a:rPr>
              <a:t>✓  Suportado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084831"/>
            <a:ext cx="5303520" cy="841248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3969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CC71"/>
                </a:solidFill>
                <a:latin typeface="Calibri"/>
              </a:rPr>
              <a:t>✓  Crash-stop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23744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Worker morre → mensagens voltam para a fila automaticamente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072384"/>
            <a:ext cx="5303520" cy="841248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12724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CC71"/>
                </a:solidFill>
                <a:latin typeface="Calibri"/>
              </a:rPr>
              <a:t>✓  Crash-recovery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51129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Broker reinicia → mensagens PERSISTENT sobrevivem no disco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059935"/>
            <a:ext cx="5303520" cy="841248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114799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CC71"/>
                </a:solidFill>
                <a:latin typeface="Calibri"/>
              </a:rPr>
              <a:t>✓  Omissão com retry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49884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Falhas de lógica → DLQ após N tentativas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047488"/>
            <a:ext cx="5303520" cy="841248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102351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CC71"/>
                </a:solidFill>
                <a:latin typeface="Calibri"/>
              </a:rPr>
              <a:t>✓  Partição de rede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8640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connect_robust reconecta com backoff exponencial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508760"/>
            <a:ext cx="5577840" cy="4846320"/>
          </a:xfrm>
          <a:prstGeom prst="rect">
            <a:avLst/>
          </a:prstGeom>
          <a:solidFill>
            <a:srgbClr val="300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157276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74C3C"/>
                </a:solidFill>
                <a:latin typeface="Calibri"/>
              </a:rPr>
              <a:t>✗  Não suportado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2084831"/>
            <a:ext cx="5303520" cy="10972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213969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74C3C"/>
                </a:solidFill>
                <a:latin typeface="Calibri"/>
              </a:rPr>
              <a:t>✗  Falhas Byzantinas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2542032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Nó malicioso enviando mensagens forjadas ou corrompidas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319272"/>
            <a:ext cx="5303520" cy="10972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337413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74C3C"/>
                </a:solidFill>
                <a:latin typeface="Calibri"/>
              </a:rPr>
              <a:t>✗  Exatamente-uma-vez nativo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3776472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At-least-once → duplicatas possíveis (tratamos com idempotência)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892040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888888"/>
                </a:solidFill>
                <a:latin typeface="Calibri"/>
              </a:rPr>
              <a:t>Falhas Byzantinas requerem protocolo BFT dedicado (PBFT, Tendermint). Fora do escopo do RabbitMQ.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6600"/>
                </a:solidFill>
                <a:latin typeface="Calibri"/>
              </a:rPr>
              <a:t>CONFIABILIDADE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Confiabilidade: Fair-Loss vs Perfect Link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78407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  <a:latin typeface="Calibri"/>
              </a:rPr>
              <a:t>O que acontece com as mensagens quando o broker cai?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07592"/>
            <a:ext cx="11274552" cy="3657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63040"/>
            <a:ext cx="5394960" cy="49377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463040"/>
            <a:ext cx="5394960" cy="50292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508760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1A2E"/>
                </a:solidFill>
                <a:latin typeface="Calibri"/>
              </a:rPr>
              <a:t>Fair-Loss Link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057400"/>
            <a:ext cx="5074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CCCCCC"/>
                </a:solidFill>
                <a:latin typeface="Calibri"/>
              </a:rPr>
              <a:t>Msgs podem se perder, mas não são inventadas.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542032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88888"/>
                </a:solidFill>
                <a:latin typeface="Calibri"/>
              </a:rPr>
              <a:t>Configuração: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880360"/>
            <a:ext cx="5074920" cy="960120"/>
          </a:xfrm>
          <a:prstGeom prst="rect">
            <a:avLst/>
          </a:prstGeom>
          <a:solidFill>
            <a:srgbClr val="0D0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971800"/>
            <a:ext cx="4855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exchange  → non-durable</a:t>
            </a:r>
          </a:p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fila      → non-durable</a:t>
            </a:r>
          </a:p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delivery  → NON_PERSISTENT  (só RAM)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913632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Resultado: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251960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4251960"/>
            <a:ext cx="4782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Broker reinicia → msgs na RAM somem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4636008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636008"/>
            <a:ext cx="4782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Nenhum aviso ao producer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5020056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5020056"/>
            <a:ext cx="4782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Garantia? Nenhuma.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1463040"/>
            <a:ext cx="5715000" cy="49377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6480" y="1463040"/>
            <a:ext cx="5715000" cy="502920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91072" y="150876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1A2E"/>
                </a:solidFill>
                <a:latin typeface="Calibri"/>
              </a:rPr>
              <a:t>Perfect Link (at-least-once)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91072" y="20574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CCCCCC"/>
                </a:solidFill>
                <a:latin typeface="Calibri"/>
              </a:rPr>
              <a:t>Toda msg enviada é eventualmente entregue.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91072" y="254203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CC71"/>
                </a:solidFill>
                <a:latin typeface="Calibri"/>
              </a:rPr>
              <a:t>Nossa configuração: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91072" y="2880360"/>
            <a:ext cx="5394960" cy="1280160"/>
          </a:xfrm>
          <a:prstGeom prst="rect">
            <a:avLst/>
          </a:prstGeom>
          <a:solidFill>
            <a:srgbClr val="0D0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2971800"/>
            <a:ext cx="51755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exchange  → durable</a:t>
            </a:r>
          </a:p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fila      → durable</a:t>
            </a:r>
          </a:p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delivery  → PERSISTENT  (disco)</a:t>
            </a:r>
          </a:p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ACK       → manual (só após processar)</a:t>
            </a:r>
          </a:p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conexão   → connect_robust (reconecta)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91072" y="42519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Ressalva: at-least-once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91072" y="4572000"/>
            <a:ext cx="5486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Worker processa + falha antes do ACK → recebe de novo.
Idempotência (próximos slides) trata isso.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6600"/>
                </a:solidFill>
                <a:latin typeface="Calibri"/>
              </a:rPr>
              <a:t>CONFIABILIDADE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BEB vs Reliable 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78407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  <a:latin typeface="Calibri"/>
              </a:rPr>
              <a:t>O producer falha no meio — o que acontece?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07592"/>
            <a:ext cx="11274552" cy="3657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63040"/>
            <a:ext cx="5394960" cy="49377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463040"/>
            <a:ext cx="5394960" cy="50292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508760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1A2E"/>
                </a:solidFill>
                <a:latin typeface="Calibri"/>
              </a:rPr>
              <a:t>Best Effort Broadcast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057400"/>
            <a:ext cx="5074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CCCC"/>
                </a:solidFill>
                <a:latin typeface="Calibri"/>
              </a:rPr>
              <a:t>O emissor dispara e não garante se ele mesmo falhar.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542032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No projeto — endpoint POST /batch: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880360"/>
            <a:ext cx="5074920" cy="960120"/>
          </a:xfrm>
          <a:prstGeom prst="rect">
            <a:avLst/>
          </a:prstGeom>
          <a:solidFill>
            <a:srgbClr val="0D0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971800"/>
            <a:ext cx="4855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# publisher.py — sem publisher confirms</a:t>
            </a:r>
          </a:p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await exchange.publish(msg, routing_key='payment')</a:t>
            </a:r>
          </a:p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# Se broker cair AQUI → msg perdida. Producer não sabe.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931920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88888"/>
                </a:solidFill>
                <a:latin typeface="Calibri"/>
              </a:rPr>
              <a:t>Analogia: UDP em broadcast.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279392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4279392"/>
            <a:ext cx="4782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Enviamos 1000 msgs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4626864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626864"/>
            <a:ext cx="4782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Broker cai na msg 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4974336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4974336"/>
            <a:ext cx="4782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Msgs 501-1000 perdidas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" y="5321807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5321807"/>
            <a:ext cx="4782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Producer não tem como saber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1463040"/>
            <a:ext cx="5715000" cy="49377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26480" y="1463040"/>
            <a:ext cx="5715000" cy="50292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91072" y="150876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1A2E"/>
                </a:solidFill>
                <a:latin typeface="Calibri"/>
              </a:rPr>
              <a:t>Reliable Broadcast (aprox.)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91072" y="20574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CCCC"/>
                </a:solidFill>
                <a:latin typeface="Calibri"/>
              </a:rPr>
              <a:t>Se um processo correto entrega m, todos entregam m.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91072" y="254203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600"/>
                </a:solidFill>
                <a:latin typeface="Calibri"/>
              </a:rPr>
              <a:t>Nossa aproximação: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91072" y="2907792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600"/>
                </a:solidFill>
                <a:latin typeface="Calibri"/>
              </a:rPr>
              <a:t>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2907792"/>
            <a:ext cx="51937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Msg que chega ao broker com
PERSISTENT → nunca some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1072" y="3383280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600"/>
                </a:solidFill>
                <a:latin typeface="Calibri"/>
              </a:rPr>
              <a:t>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3383280"/>
            <a:ext cx="51937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ACK manual → broker guarda
até worker confirmar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1072" y="3858768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600"/>
                </a:solidFill>
                <a:latin typeface="Calibri"/>
              </a:rPr>
              <a:t>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3858768"/>
            <a:ext cx="51937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Worker ativo vai processar
eventualmente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1072" y="45720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O que ainda falta para RB formal: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91072" y="4919472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39C12"/>
                </a:solidFill>
                <a:latin typeface="Calibri"/>
              </a:rPr>
              <a:t>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4919472"/>
            <a:ext cx="51937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Publisher confirms (sem eles = BEB)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91072" y="5303520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39C12"/>
                </a:solidFill>
                <a:latin typeface="Calibri"/>
              </a:rPr>
              <a:t>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5303520"/>
            <a:ext cx="51937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Se producer cai antes de publicar,
não há como recuperar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6600"/>
                </a:solidFill>
                <a:latin typeface="Calibri"/>
              </a:rPr>
              <a:t>CONFIABILIDADE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Uniform Reliable 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78407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  <a:latin typeface="Calibri"/>
              </a:rPr>
              <a:t>O nível mais alto — e como chegamos perto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07592"/>
            <a:ext cx="11274552" cy="3657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63040"/>
            <a:ext cx="11430000" cy="1143000"/>
          </a:xfrm>
          <a:prstGeom prst="rect">
            <a:avLst/>
          </a:prstGeom>
          <a:solidFill>
            <a:srgbClr val="201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5361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B59B6"/>
                </a:solidFill>
                <a:latin typeface="Calibri"/>
              </a:rPr>
              <a:t>Definição de URB: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874519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  <a:latin typeface="Calibri"/>
              </a:rPr>
              <a:t>Se qualquer processo (correto OU com falha) entrega m → TODOS os processos entregam m. Requer consenso.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743200"/>
            <a:ext cx="5349240" cy="3657600"/>
          </a:xfrm>
          <a:prstGeom prst="rect">
            <a:avLst/>
          </a:prstGeom>
          <a:solidFill>
            <a:srgbClr val="25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807208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74C3C"/>
                </a:solidFill>
                <a:latin typeface="Calibri"/>
              </a:rPr>
              <a:t>✗  RabbitMQ não garante URB nativo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273552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Cenário problemático: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" y="3630168"/>
            <a:ext cx="5074920" cy="1828800"/>
          </a:xfrm>
          <a:prstGeom prst="rect">
            <a:avLst/>
          </a:prstGeom>
          <a:solidFill>
            <a:srgbClr val="0D0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721608"/>
            <a:ext cx="4855464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Worker A: recebe msg → processa parcialmente</a:t>
            </a:r>
          </a:p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           → salva metade no banco</a:t>
            </a:r>
          </a:p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           → FALHA antes do ACK</a:t>
            </a:r>
          </a:p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 </a:t>
            </a:r>
          </a:p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Worker B: recebe a mesma msg de novo</a:t>
            </a:r>
          </a:p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           → estado parcial do Worker A já existe</a:t>
            </a:r>
          </a:p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           → sem consenso sobre quem entregou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2743200"/>
            <a:ext cx="5715000" cy="3657600"/>
          </a:xfrm>
          <a:prstGeom prst="rect">
            <a:avLst/>
          </a:prstGeom>
          <a:solidFill>
            <a:srgbClr val="082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99632" y="2807208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CC71"/>
                </a:solidFill>
                <a:latin typeface="Calibri"/>
              </a:rPr>
              <a:t>✓  Nossa solução: idempotência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9632" y="327355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CC71"/>
                </a:solidFill>
                <a:latin typeface="Calibri"/>
              </a:rPr>
              <a:t>Verificamos o estado antes de processar: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9632" y="3630168"/>
            <a:ext cx="5394960" cy="1325880"/>
          </a:xfrm>
          <a:prstGeom prst="rect">
            <a:avLst/>
          </a:prstGeom>
          <a:solidFill>
            <a:srgbClr val="0D0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3721608"/>
            <a:ext cx="5175504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# notification-worker/worker.py</a:t>
            </a:r>
          </a:p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if order.status == 'confirmed':</a:t>
            </a:r>
          </a:p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    return  # já processado, ignora duplicata</a:t>
            </a:r>
          </a:p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 </a:t>
            </a:r>
          </a:p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# Garante: efeito visível = exactly-once</a:t>
            </a:r>
          </a:p>
          <a:p>
            <a:pPr algn="l"/>
            <a:r>
              <a:rPr sz="1100">
                <a:solidFill>
                  <a:srgbClr val="2ECC71"/>
                </a:solidFill>
                <a:latin typeface="Courier New"/>
              </a:rPr>
              <a:t># mesmo com at-least-once na fila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9632" y="502920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CCCC"/>
                </a:solidFill>
                <a:latin typeface="Calibri"/>
              </a:rPr>
              <a:t>Resultado: exactly-once semântico para o usuário.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7395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888888"/>
                </a:solidFill>
                <a:latin typeface="Calibri"/>
              </a:rPr>
              <a:t>Quorum Queues (RabbitMQ 3.8+ com Raft) aproximam o URB nativamente — próximo passo real.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6600"/>
                </a:solidFill>
                <a:latin typeface="Calibri"/>
              </a:rPr>
              <a:t>CONFIABILIDADE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Comparativo — os 5 Modelos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78407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  <a:latin typeface="Calibri"/>
              </a:rPr>
              <a:t>De Fair-Loss até URB — onde o RabbitMQ se encaixa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07592"/>
            <a:ext cx="11274552" cy="3657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17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508760"/>
            <a:ext cx="2743200" cy="411480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50876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6600"/>
                </a:solidFill>
                <a:latin typeface="Calibri"/>
              </a:rPr>
              <a:t>Modelo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81528" y="1508760"/>
            <a:ext cx="1554480" cy="411480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81528" y="150876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6600"/>
                </a:solidFill>
                <a:latin typeface="Calibri"/>
              </a:rPr>
              <a:t>Perde msg?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54296" y="1508760"/>
            <a:ext cx="1554480" cy="411480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4296" y="150876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6600"/>
                </a:solidFill>
                <a:latin typeface="Calibri"/>
              </a:rPr>
              <a:t>Duplicatas?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7064" y="1508760"/>
            <a:ext cx="1737360" cy="411480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7064" y="150876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6600"/>
                </a:solidFill>
                <a:latin typeface="Calibri"/>
              </a:rPr>
              <a:t>Crash producer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82711" y="1508760"/>
            <a:ext cx="4206240" cy="411480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82711" y="150876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6600"/>
                </a:solidFill>
                <a:latin typeface="Calibri"/>
              </a:rPr>
              <a:t>No projeto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1938528"/>
            <a:ext cx="2743200" cy="621792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2011680"/>
            <a:ext cx="26334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888888"/>
                </a:solidFill>
                <a:latin typeface="Calibri"/>
              </a:rPr>
              <a:t>Fair-Loss Link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81528" y="1938528"/>
            <a:ext cx="1554480" cy="621792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54680" y="2011680"/>
            <a:ext cx="14447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Calibri"/>
              </a:rPr>
              <a:t>Sim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54296" y="1938528"/>
            <a:ext cx="1554480" cy="621792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27448" y="2011680"/>
            <a:ext cx="14447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Calibri"/>
              </a:rPr>
              <a:t>Não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27064" y="1938528"/>
            <a:ext cx="1737360" cy="621792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0216" y="2011680"/>
            <a:ext cx="162763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Calibri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82711" y="1938528"/>
            <a:ext cx="4206240" cy="621792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55863" y="2011680"/>
            <a:ext cx="409651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Calibri"/>
              </a:rPr>
              <a:t>Sem persistência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2596896"/>
            <a:ext cx="2743200" cy="62179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3192" y="2670048"/>
            <a:ext cx="26334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2ECC71"/>
                </a:solidFill>
                <a:latin typeface="Calibri"/>
              </a:rPr>
              <a:t>Perfect Link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81528" y="2596896"/>
            <a:ext cx="1554480" cy="62179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54680" y="2670048"/>
            <a:ext cx="14447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Calibri"/>
              </a:rPr>
              <a:t>Não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54296" y="2596896"/>
            <a:ext cx="1554480" cy="62179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27448" y="2670048"/>
            <a:ext cx="14447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Calibri"/>
              </a:rPr>
              <a:t>Possível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27064" y="2596896"/>
            <a:ext cx="1737360" cy="62179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0216" y="2670048"/>
            <a:ext cx="162763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Calibri"/>
              </a:rPr>
              <a:t>Perde msgs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82711" y="2596896"/>
            <a:ext cx="4206240" cy="62179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55863" y="2670048"/>
            <a:ext cx="409651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Calibri"/>
              </a:rPr>
              <a:t>PERSISTENT + ACK + durable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" y="3255264"/>
            <a:ext cx="2743200" cy="621792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93192" y="3328416"/>
            <a:ext cx="26334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39C12"/>
                </a:solidFill>
                <a:latin typeface="Calibri"/>
              </a:rPr>
              <a:t>BEB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081528" y="3255264"/>
            <a:ext cx="1554480" cy="621792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54680" y="3328416"/>
            <a:ext cx="14447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Calibri"/>
              </a:rPr>
              <a:t>Possível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54296" y="3255264"/>
            <a:ext cx="1554480" cy="621792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27448" y="3328416"/>
            <a:ext cx="14447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Calibri"/>
              </a:rPr>
              <a:t>Não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27064" y="3255264"/>
            <a:ext cx="1737360" cy="621792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00216" y="3328416"/>
            <a:ext cx="162763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Calibri"/>
              </a:rPr>
              <a:t>Perde msgs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982711" y="3255264"/>
            <a:ext cx="4206240" cy="621792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55863" y="3328416"/>
            <a:ext cx="409651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Calibri"/>
              </a:rPr>
              <a:t>POST /batch (sem confirms)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0040" y="3913632"/>
            <a:ext cx="2743200" cy="62179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93192" y="3986784"/>
            <a:ext cx="26334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F6600"/>
                </a:solidFill>
                <a:latin typeface="Calibri"/>
              </a:rPr>
              <a:t>Reliable Broadcast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081528" y="3913632"/>
            <a:ext cx="1554480" cy="62179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154680" y="3986784"/>
            <a:ext cx="14447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Calibri"/>
              </a:rPr>
              <a:t>Não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654296" y="3913632"/>
            <a:ext cx="1554480" cy="62179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727448" y="3986784"/>
            <a:ext cx="14447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Calibri"/>
              </a:rPr>
              <a:t>Possível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27064" y="3913632"/>
            <a:ext cx="1737360" cy="62179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0216" y="3986784"/>
            <a:ext cx="162763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Calibri"/>
              </a:rPr>
              <a:t>Perde msgs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982711" y="3913632"/>
            <a:ext cx="4206240" cy="62179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055863" y="3986784"/>
            <a:ext cx="409651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Calibri"/>
              </a:rPr>
              <a:t>Aprox. com persistência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0040" y="4572000"/>
            <a:ext cx="2743200" cy="621792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93192" y="4645152"/>
            <a:ext cx="26334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E74C3C"/>
                </a:solidFill>
                <a:latin typeface="Calibri"/>
              </a:rPr>
              <a:t>Uniform RB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081528" y="4572000"/>
            <a:ext cx="1554480" cy="621792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154680" y="4645152"/>
            <a:ext cx="14447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Calibri"/>
              </a:rPr>
              <a:t>Não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654296" y="4572000"/>
            <a:ext cx="1554480" cy="621792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727448" y="4645152"/>
            <a:ext cx="14447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Calibri"/>
              </a:rPr>
              <a:t>Não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27064" y="4572000"/>
            <a:ext cx="1737360" cy="621792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0216" y="4645152"/>
            <a:ext cx="162763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Calibri"/>
              </a:rPr>
              <a:t>Nenhuma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982711" y="4572000"/>
            <a:ext cx="4206240" cy="621792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055863" y="4645152"/>
            <a:ext cx="409651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Calibri"/>
              </a:rPr>
              <a:t>Não nativo (idempotência)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0040" y="493776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FF6600"/>
                </a:solidFill>
                <a:latin typeface="Calibri"/>
              </a:rPr>
              <a:t>Linha destacada em laranja = nossa implementação principal.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6600"/>
                </a:solidFill>
                <a:latin typeface="Calibri"/>
              </a:rPr>
              <a:t>ORDENAÇÃO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Ordenação — FIFO com 1 Consumer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78407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  <a:latin typeface="Calibri"/>
              </a:rPr>
              <a:t>A fila garante a ordem. Um consumidor respeitá-la.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07592"/>
            <a:ext cx="11274552" cy="3657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0876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6600"/>
                </a:solidFill>
                <a:latin typeface="Calibri"/>
              </a:rPr>
              <a:t>Fila (payment-queue)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38528"/>
            <a:ext cx="1298448" cy="658368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938528"/>
            <a:ext cx="129844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6600"/>
                </a:solidFill>
                <a:latin typeface="Calibri"/>
              </a:rPr>
              <a:t>msg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01952" y="1938528"/>
            <a:ext cx="1298448" cy="658368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01952" y="1938528"/>
            <a:ext cx="129844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6600"/>
                </a:solidFill>
                <a:latin typeface="Calibri"/>
              </a:rPr>
              <a:t>msg 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46704" y="1938528"/>
            <a:ext cx="1298448" cy="658368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46704" y="1938528"/>
            <a:ext cx="129844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6600"/>
                </a:solidFill>
                <a:latin typeface="Calibri"/>
              </a:rPr>
              <a:t>msg 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91456" y="1938528"/>
            <a:ext cx="1298448" cy="658368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1456" y="1938528"/>
            <a:ext cx="129844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6600"/>
                </a:solidFill>
                <a:latin typeface="Calibri"/>
              </a:rPr>
              <a:t>msg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6208" y="1938528"/>
            <a:ext cx="1298448" cy="658368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36208" y="1938528"/>
            <a:ext cx="129844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6600"/>
                </a:solidFill>
                <a:latin typeface="Calibri"/>
              </a:rPr>
              <a:t>msg 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9248" y="2084831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6600"/>
                </a:solidFill>
                <a:latin typeface="Calibri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8160" y="1874519"/>
            <a:ext cx="1828800" cy="777240"/>
          </a:xfrm>
          <a:prstGeom prst="rect">
            <a:avLst/>
          </a:prstGeom>
          <a:solidFill>
            <a:srgbClr val="0530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1874519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ECC71"/>
                </a:solidFill>
                <a:latin typeface="Calibri"/>
              </a:rPr>
              <a:t>Worker
(1 consumer)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2084831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ECC71"/>
                </a:solidFill>
                <a:latin typeface="Calibri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469880" y="1874519"/>
            <a:ext cx="1508760" cy="77724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69880" y="1874519"/>
            <a:ext cx="1508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  <a:latin typeface="Calibri"/>
              </a:rPr>
              <a:t>Processa
em ordem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7" y="27889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ECC71"/>
                </a:solidFill>
                <a:latin typeface="Calibri"/>
              </a:rPr>
              <a:t>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306324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CC71"/>
                </a:solidFill>
                <a:latin typeface="Calibri"/>
              </a:rPr>
              <a:t>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0" y="27889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ECC71"/>
                </a:solidFill>
                <a:latin typeface="Calibri"/>
              </a:rPr>
              <a:t>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42032" y="306324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CC71"/>
                </a:solidFill>
                <a:latin typeface="Calibri"/>
              </a:rPr>
              <a:t>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30752" y="27889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ECC71"/>
                </a:solidFill>
                <a:latin typeface="Calibri"/>
              </a:rPr>
              <a:t>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86784" y="306324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CC71"/>
                </a:solidFill>
                <a:latin typeface="Calibri"/>
              </a:rPr>
              <a:t>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75504" y="27889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ECC71"/>
                </a:solidFill>
                <a:latin typeface="Calibri"/>
              </a:rPr>
              <a:t>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31536" y="306324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CC71"/>
                </a:solidFill>
                <a:latin typeface="Calibri"/>
              </a:rPr>
              <a:t>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0256" y="27889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ECC71"/>
                </a:solidFill>
                <a:latin typeface="Calibri"/>
              </a:rPr>
              <a:t>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76288" y="306324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CC71"/>
                </a:solidFill>
                <a:latin typeface="Calibri"/>
              </a:rPr>
              <a:t>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520440"/>
            <a:ext cx="11430000" cy="1188720"/>
          </a:xfrm>
          <a:prstGeom prst="rect">
            <a:avLst/>
          </a:prstGeom>
          <a:solidFill>
            <a:srgbClr val="082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35935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CC71"/>
                </a:solidFill>
                <a:latin typeface="Calibri"/>
              </a:rPr>
              <a:t>Propriedade FIFO garantida pelo RabbitMQ: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395020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CCCCC"/>
                </a:solidFill>
                <a:latin typeface="Calibri"/>
              </a:rPr>
              <a:t>A especificação AMQP 0-9-1 define que mensagens publicadas com a mesma routing key e priority
chegam à fila na ordem em que foram publicadas — e são entregues nessa ordem a um único consumer.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48006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Mas: com N consumers em paralelo, a ordem global de processamento NÃO é garantida. (Slide 19)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5257800"/>
            <a:ext cx="11430000" cy="123444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93192" y="5285232"/>
            <a:ext cx="11375136" cy="1179576"/>
          </a:xfrm>
          <a:prstGeom prst="rect">
            <a:avLst/>
          </a:prstGeom>
          <a:solidFill>
            <a:srgbClr val="14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" y="534924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600"/>
                </a:solidFill>
                <a:latin typeface="Calibri"/>
              </a:rPr>
              <a:t>[ GIF OPCIONAL — SUBSTITUIR ]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5669279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Animação de fila FIFO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126480"/>
            <a:ext cx="11155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CC"/>
                </a:solidFill>
                <a:latin typeface="Calibri"/>
              </a:rPr>
              <a:t>Buscar: 'queue FIFO animation gif' ou 'message queue gif'.
Visualfsm.js e CloudAMQP têm animações boas.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6600"/>
                </a:solidFill>
                <a:latin typeface="Calibri"/>
              </a:rPr>
              <a:t>ORDENAÇÃO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Ordenação — N Consumers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78407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  <a:latin typeface="Calibri"/>
              </a:rPr>
              <a:t>Paralelo quebra a ordem global. Como resolver.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07592"/>
            <a:ext cx="11274552" cy="3657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0876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600"/>
                </a:solidFill>
                <a:latin typeface="Calibri"/>
              </a:rPr>
              <a:t>Fila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01952"/>
            <a:ext cx="1188720" cy="566928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901952"/>
            <a:ext cx="1188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6600"/>
                </a:solidFill>
                <a:latin typeface="Calibri"/>
              </a:rPr>
              <a:t>msg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60320"/>
            <a:ext cx="1188720" cy="566928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560320"/>
            <a:ext cx="1188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6600"/>
                </a:solidFill>
                <a:latin typeface="Calibri"/>
              </a:rPr>
              <a:t>msg 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18688"/>
            <a:ext cx="1188720" cy="566928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218688"/>
            <a:ext cx="1188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6600"/>
                </a:solidFill>
                <a:latin typeface="Calibri"/>
              </a:rPr>
              <a:t>msg 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877056"/>
            <a:ext cx="1188720" cy="566928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877056"/>
            <a:ext cx="1188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6600"/>
                </a:solidFill>
                <a:latin typeface="Calibri"/>
              </a:rPr>
              <a:t>msg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2816352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6600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31720" y="1645920"/>
            <a:ext cx="2011680" cy="731520"/>
          </a:xfrm>
          <a:prstGeom prst="rect">
            <a:avLst/>
          </a:prstGeom>
          <a:solidFill>
            <a:srgbClr val="05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31720" y="164592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980B9"/>
                </a:solidFill>
                <a:latin typeface="Calibri"/>
              </a:rPr>
              <a:t>Worker A
(lento)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31720" y="2468880"/>
            <a:ext cx="2011680" cy="731520"/>
          </a:xfrm>
          <a:prstGeom prst="rect">
            <a:avLst/>
          </a:prstGeom>
          <a:solidFill>
            <a:srgbClr val="05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31720" y="24688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980B9"/>
                </a:solidFill>
                <a:latin typeface="Calibri"/>
              </a:rPr>
              <a:t>msg 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63440" y="1645920"/>
            <a:ext cx="2011680" cy="731520"/>
          </a:xfrm>
          <a:prstGeom prst="rect">
            <a:avLst/>
          </a:prstGeom>
          <a:solidFill>
            <a:srgbClr val="0530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3440" y="164592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ECC71"/>
                </a:solidFill>
                <a:latin typeface="Calibri"/>
              </a:rPr>
              <a:t>Worker B
(rápido)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63440" y="2468880"/>
            <a:ext cx="2011680" cy="731520"/>
          </a:xfrm>
          <a:prstGeom prst="rect">
            <a:avLst/>
          </a:prstGeom>
          <a:solidFill>
            <a:srgbClr val="0530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3440" y="24688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ECC71"/>
                </a:solidFill>
                <a:latin typeface="Calibri"/>
              </a:rPr>
              <a:t>msg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150876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Resultado: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49440" y="1901952"/>
            <a:ext cx="5029200" cy="1371600"/>
          </a:xfrm>
          <a:prstGeom prst="rect">
            <a:avLst/>
          </a:prstGeom>
          <a:solidFill>
            <a:srgbClr val="3020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86600" y="1965960"/>
            <a:ext cx="4800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Worker B termina primeiro: msg 2 confirmada antes de msg 1.
Ordem de chegada: 1,2,3,4
Ordem de processamento: 2,4,1,3
→ Ordem global quebrada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429000"/>
            <a:ext cx="6858000" cy="841248"/>
          </a:xfrm>
          <a:prstGeom prst="rect">
            <a:avLst/>
          </a:prstGeom>
          <a:solidFill>
            <a:srgbClr val="0D0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3520440"/>
            <a:ext cx="66385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ECC71"/>
                </a:solidFill>
                <a:latin typeface="Courier New"/>
              </a:rPr>
              <a:t>make scale-workers N=5 &amp;&amp; make send-100</a:t>
            </a:r>
          </a:p>
          <a:p>
            <a:pPr algn="l"/>
            <a:r>
              <a:rPr sz="1200">
                <a:solidFill>
                  <a:srgbClr val="2ECC71"/>
                </a:solidFill>
                <a:latin typeface="Courier New"/>
              </a:rPr>
              <a:t>make db-query</a:t>
            </a:r>
          </a:p>
          <a:p>
            <a:pPr algn="l"/>
            <a:r>
              <a:rPr sz="1200">
                <a:solidFill>
                  <a:srgbClr val="2ECC71"/>
                </a:solidFill>
                <a:latin typeface="Courier New"/>
              </a:rPr>
              <a:t># processed_at NÃO respeita created_at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407408"/>
            <a:ext cx="11430000" cy="2084831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4805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600"/>
                </a:solidFill>
                <a:latin typeface="Calibri"/>
              </a:rPr>
              <a:t>Como garantir ordem total — se necessário: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4892040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39C12"/>
                </a:solidFill>
                <a:latin typeface="Calibri"/>
              </a:rPr>
              <a:t>▸ Particionamento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525780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1 worker por event_id (como Kafka faz com partition keys). Simples e eficaz.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25112" y="4892040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39C12"/>
                </a:solidFill>
                <a:latin typeface="Calibri"/>
              </a:rPr>
              <a:t>▸ Sequencer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25112" y="525780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Nó central atribui número de sequência antes de publicar. Gargalo, mas garante ordem.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47304" y="4892040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39C12"/>
                </a:solidFill>
                <a:latin typeface="Calibri"/>
              </a:rPr>
              <a:t>▸ Kafka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47304" y="525780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Nativo: cada partição é uma fila FIFO. Workers de uma partição respeitam a ordem.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6600"/>
                </a:solidFill>
                <a:latin typeface="Calibri"/>
              </a:rPr>
              <a:t>IMPLEMENTAÇÃO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Implementação: Persistência + 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78407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  <a:latin typeface="Calibri"/>
              </a:rPr>
              <a:t>Como o RabbitMQ garante que mensagens não somem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07592"/>
            <a:ext cx="11274552" cy="3657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20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508760"/>
            <a:ext cx="594360" cy="7498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08760"/>
            <a:ext cx="5943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1A2E"/>
                </a:solidFill>
                <a:latin typeface="Calibri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1508760"/>
            <a:ext cx="1828800" cy="749808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508760"/>
            <a:ext cx="1828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Publisher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80360" y="1508760"/>
            <a:ext cx="2743200" cy="749808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160020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600"/>
                </a:solidFill>
                <a:latin typeface="Calibri"/>
              </a:rPr>
              <a:t>publish(PERSISTENT)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0" y="1673351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Grava em disco antes de retornar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404872"/>
            <a:ext cx="594360" cy="749808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404872"/>
            <a:ext cx="5943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1A2E"/>
                </a:solidFill>
                <a:latin typeface="Calibri"/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0" y="2404872"/>
            <a:ext cx="1828800" cy="749808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2404872"/>
            <a:ext cx="1828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80360" y="2404872"/>
            <a:ext cx="2743200" cy="749808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71800" y="2496312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CCCCC"/>
                </a:solidFill>
                <a:latin typeface="Calibri"/>
              </a:rPr>
              <a:t>mnesia / msg store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5000" y="2569464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Arquivo em /var/lib/rabbitmq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300984"/>
            <a:ext cx="594360" cy="749808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3300984"/>
            <a:ext cx="5943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1A2E"/>
                </a:solidFill>
                <a:latin typeface="Calibri"/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3300984"/>
            <a:ext cx="1828800" cy="749808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3300984"/>
            <a:ext cx="1828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Consumer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80360" y="3300984"/>
            <a:ext cx="2743200" cy="749808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71800" y="3392424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C71"/>
                </a:solidFill>
                <a:latin typeface="Calibri"/>
              </a:rPr>
              <a:t>processa()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0" y="3465576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Lógica de negócio + commit no banco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197096"/>
            <a:ext cx="594360" cy="749808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4197096"/>
            <a:ext cx="5943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1A2E"/>
                </a:solidFill>
                <a:latin typeface="Calibri"/>
              </a:rPr>
              <a:t>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05840" y="4197096"/>
            <a:ext cx="1828800" cy="749808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197096"/>
            <a:ext cx="1828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ACK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80360" y="4197096"/>
            <a:ext cx="2743200" cy="749808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71800" y="4288536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C71"/>
                </a:solidFill>
                <a:latin typeface="Calibri"/>
              </a:rPr>
              <a:t>channel.ack()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15000" y="4361688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Broker remove da fila (disco)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5093208"/>
            <a:ext cx="594360" cy="749808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093208"/>
            <a:ext cx="5943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1A2E"/>
                </a:solidFill>
                <a:latin typeface="Calibri"/>
              </a:rPr>
              <a:t>!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05840" y="5093208"/>
            <a:ext cx="1828800" cy="749808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5093208"/>
            <a:ext cx="1828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Sem ACK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880360" y="5093208"/>
            <a:ext cx="2743200" cy="749808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71800" y="5184648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  <a:latin typeface="Calibri"/>
              </a:rPr>
              <a:t>crash antes do ack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15000" y="525780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Msg volta para ready → at-least-once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6126480"/>
            <a:ext cx="11430000" cy="594360"/>
          </a:xfrm>
          <a:prstGeom prst="rect">
            <a:avLst/>
          </a:prstGeom>
          <a:solidFill>
            <a:srgbClr val="3018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8640" y="6190488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At-least-once: se o worker processa e cai ANTES do ACK, recebe a mesma mensagem novamente. Necessário: idempotência no processamento.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6600"/>
                </a:solidFill>
                <a:latin typeface="Calibri"/>
              </a:rPr>
              <a:t>IMPLEMENTAÇÃO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Implementação: Anti-Overbooking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78407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  <a:latin typeface="Calibri"/>
              </a:rPr>
              <a:t>SELECT FOR UPDATE previne a venda dupla do mesmo ingresso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07592"/>
            <a:ext cx="11274552" cy="3657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087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4C3C"/>
                </a:solidFill>
                <a:latin typeface="Calibri"/>
              </a:rPr>
              <a:t>Sem controle — o que pode acontecer: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01952"/>
            <a:ext cx="7498079" cy="1481328"/>
          </a:xfrm>
          <a:prstGeom prst="rect">
            <a:avLst/>
          </a:prstGeom>
          <a:solidFill>
            <a:srgbClr val="0D0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993392"/>
            <a:ext cx="7278623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>
                <a:solidFill>
                  <a:srgbClr val="2ECC71"/>
                </a:solidFill>
                <a:latin typeface="Courier New"/>
              </a:rPr>
              <a:t>Worker A lê: available_tickets = 1  →  reserva</a:t>
            </a:r>
          </a:p>
          <a:p>
            <a:pPr algn="l"/>
            <a:r>
              <a:rPr sz="1250">
                <a:solidFill>
                  <a:srgbClr val="2ECC71"/>
                </a:solidFill>
                <a:latin typeface="Courier New"/>
              </a:rPr>
              <a:t>Worker B lê: available_tickets = 1  →  reserva (ao mesmo tempo!)</a:t>
            </a:r>
          </a:p>
          <a:p>
            <a:pPr algn="l"/>
            <a:r>
              <a:rPr sz="1250">
                <a:solidFill>
                  <a:srgbClr val="2ECC71"/>
                </a:solidFill>
                <a:latin typeface="Courier New"/>
              </a:rPr>
              <a:t> </a:t>
            </a:r>
          </a:p>
          <a:p>
            <a:pPr algn="l"/>
            <a:r>
              <a:rPr sz="1250">
                <a:solidFill>
                  <a:srgbClr val="2ECC71"/>
                </a:solidFill>
                <a:latin typeface="Courier New"/>
              </a:rPr>
              <a:t>Resultado: 2 vendas, 0 ingressos → OVERBOOKING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54787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CC71"/>
                </a:solidFill>
                <a:latin typeface="Calibri"/>
              </a:rPr>
              <a:t>Com SELECT FOR UPDATE — nossa solução: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950208"/>
            <a:ext cx="7498079" cy="2212848"/>
          </a:xfrm>
          <a:prstGeom prst="rect">
            <a:avLst/>
          </a:prstGeom>
          <a:solidFill>
            <a:srgbClr val="0D0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4041648"/>
            <a:ext cx="7278623" cy="20299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ECC71"/>
                </a:solidFill>
                <a:latin typeface="Courier New"/>
              </a:rPr>
              <a:t>-- stock-worker/src/database.py → reserve_tickets()</a:t>
            </a:r>
          </a:p>
          <a:p>
            <a:pPr algn="l"/>
            <a:r>
              <a:rPr sz="1200">
                <a:solidFill>
                  <a:srgbClr val="2ECC71"/>
                </a:solidFill>
                <a:latin typeface="Courier New"/>
              </a:rPr>
              <a:t>BEGIN;</a:t>
            </a:r>
          </a:p>
          <a:p>
            <a:pPr algn="l"/>
            <a:r>
              <a:rPr sz="1200">
                <a:solidFill>
                  <a:srgbClr val="2ECC71"/>
                </a:solidFill>
                <a:latin typeface="Courier New"/>
              </a:rPr>
              <a:t>  SELECT * FROM events</a:t>
            </a:r>
          </a:p>
          <a:p>
            <a:pPr algn="l"/>
            <a:r>
              <a:rPr sz="1200">
                <a:solidFill>
                  <a:srgbClr val="2ECC71"/>
                </a:solidFill>
                <a:latin typeface="Courier New"/>
              </a:rPr>
              <a:t>  WHERE id = $1</a:t>
            </a:r>
          </a:p>
          <a:p>
            <a:pPr algn="l"/>
            <a:r>
              <a:rPr sz="1200">
                <a:solidFill>
                  <a:srgbClr val="2ECC71"/>
                </a:solidFill>
                <a:latin typeface="Courier New"/>
              </a:rPr>
              <a:t>  FOR UPDATE;        -- bloqueia outros workers aqui</a:t>
            </a:r>
          </a:p>
          <a:p>
            <a:pPr algn="l"/>
            <a:r>
              <a:rPr sz="1200">
                <a:solidFill>
                  <a:srgbClr val="2ECC71"/>
                </a:solidFill>
                <a:latin typeface="Courier New"/>
              </a:rPr>
              <a:t>  </a:t>
            </a:r>
          </a:p>
          <a:p>
            <a:pPr algn="l"/>
            <a:r>
              <a:rPr sz="1200">
                <a:solidFill>
                  <a:srgbClr val="2ECC71"/>
                </a:solidFill>
                <a:latin typeface="Courier New"/>
              </a:rPr>
              <a:t>  UPDATE events SET available_tickets -= $qty;</a:t>
            </a:r>
          </a:p>
          <a:p>
            <a:pPr algn="l"/>
            <a:r>
              <a:rPr sz="1200">
                <a:solidFill>
                  <a:srgbClr val="2ECC71"/>
                </a:solidFill>
                <a:latin typeface="Courier New"/>
              </a:rPr>
              <a:t>  UPDATE orders SET status = 'stock_reserved';</a:t>
            </a:r>
          </a:p>
          <a:p>
            <a:pPr algn="l"/>
            <a:r>
              <a:rPr sz="1200">
                <a:solidFill>
                  <a:srgbClr val="2ECC71"/>
                </a:solidFill>
                <a:latin typeface="Courier New"/>
              </a:rPr>
              <a:t>COMMIT;            -- lock liberado, próximo worker entra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79" y="3493008"/>
            <a:ext cx="3749039" cy="27432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3566160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CC71"/>
                </a:solidFill>
                <a:latin typeface="Calibri"/>
              </a:rPr>
              <a:t>O que acontece: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950208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CC71"/>
                </a:solidFill>
                <a:latin typeface="Calibr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13648" y="3950208"/>
            <a:ext cx="32278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Worker B tenta e bloqueia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4425696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CC71"/>
                </a:solidFill>
                <a:latin typeface="Calibri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13648" y="4425696"/>
            <a:ext cx="32278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Aguarda Worker A commitar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4901183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CC71"/>
                </a:solidFill>
                <a:latin typeface="Calibri"/>
              </a:rPr>
              <a:t>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13648" y="4901183"/>
            <a:ext cx="32278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Se estoque zerou:
recebe out_of_stock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5376671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CC71"/>
                </a:solidFill>
                <a:latin typeface="Calibri"/>
              </a:rPr>
              <a:t>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3648" y="5376671"/>
            <a:ext cx="32278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Sem overbooking possível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FF6600"/>
                </a:solidFill>
                <a:latin typeface="Calibri"/>
              </a:rPr>
              <a:t>Demonstração Prática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30352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TicketLab — Sistema de Venda de Ingressos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  <a:latin typeface="Calibri"/>
              </a:rPr>
              <a:t>Materializa todos os conceitos vistos — RabbitMQ não é infraestrutura oculta, é o protagonista.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11680"/>
            <a:ext cx="1691640" cy="868680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011680"/>
            <a:ext cx="1691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Frontend
(React)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77440" y="2011680"/>
            <a:ext cx="1691640" cy="868680"/>
          </a:xfrm>
          <a:prstGeom prst="rect">
            <a:avLst/>
          </a:prstGeom>
          <a:solidFill>
            <a:srgbClr val="0F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2011680"/>
            <a:ext cx="1691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Producer
(FastAPI)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011680"/>
            <a:ext cx="1691640" cy="86868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2011680"/>
            <a:ext cx="1691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RabbitMQ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011680"/>
            <a:ext cx="169164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011680"/>
            <a:ext cx="1691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payment
worker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2011680"/>
            <a:ext cx="169164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2011680"/>
            <a:ext cx="1691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stock
worker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424160" y="2011680"/>
            <a:ext cx="169164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24160" y="2011680"/>
            <a:ext cx="1691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notification
worker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39112" y="2240280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6600"/>
                </a:solidFill>
                <a:latin typeface="Calibri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50791" y="2240280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6600"/>
                </a:solidFill>
                <a:latin typeface="Calibr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62472" y="2240280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6600"/>
                </a:solidFill>
                <a:latin typeface="Calibri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74152" y="2240280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6600"/>
                </a:solidFill>
                <a:latin typeface="Calibri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85832" y="2240280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6600"/>
                </a:solidFill>
                <a:latin typeface="Calibri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063240"/>
            <a:ext cx="2057400" cy="438912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06324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2E"/>
                </a:solidFill>
                <a:latin typeface="Calibri"/>
              </a:rPr>
              <a:t>pending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32888" y="318211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88888"/>
                </a:solidFill>
                <a:latin typeface="Calibri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24912" y="3063240"/>
            <a:ext cx="2057400" cy="438912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24912" y="306324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2E"/>
                </a:solidFill>
                <a:latin typeface="Calibri"/>
              </a:rPr>
              <a:t>processing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318211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88888"/>
                </a:solidFill>
                <a:latin typeface="Calibri"/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92624" y="3063240"/>
            <a:ext cx="2057400" cy="438912"/>
          </a:xfrm>
          <a:prstGeom prst="rect">
            <a:avLst/>
          </a:prstGeom>
          <a:solidFill>
            <a:srgbClr val="298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92624" y="306324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2E"/>
                </a:solidFill>
                <a:latin typeface="Calibri"/>
              </a:rPr>
              <a:t>payment_approved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68312" y="318211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88888"/>
                </a:solidFill>
                <a:latin typeface="Calibri"/>
              </a:rPr>
              <a:t>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60336" y="3063240"/>
            <a:ext cx="2057400" cy="438912"/>
          </a:xfrm>
          <a:prstGeom prst="rect">
            <a:avLst/>
          </a:prstGeom>
          <a:solidFill>
            <a:srgbClr val="298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60336" y="306324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2E"/>
                </a:solidFill>
                <a:latin typeface="Calibri"/>
              </a:rPr>
              <a:t>stock_reserved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36024" y="318211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88888"/>
                </a:solidFill>
                <a:latin typeface="Calibri"/>
              </a:rPr>
              <a:t>→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528048" y="3063240"/>
            <a:ext cx="2057400" cy="438912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28048" y="306324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2E"/>
                </a:solidFill>
                <a:latin typeface="Calibri"/>
              </a:rPr>
              <a:t>confirmed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3675887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600"/>
                </a:solidFill>
                <a:latin typeface="Calibri"/>
              </a:rPr>
              <a:t>Conceitos demonstrados: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4069080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600"/>
                </a:solidFill>
                <a:latin typeface="Calibri"/>
              </a:rPr>
              <a:t>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4069080"/>
            <a:ext cx="10954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  <a:latin typeface="Calibri"/>
              </a:rPr>
              <a:t>Perfect Links → filas durable + PERSISTENT + ACK manual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453128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600"/>
                </a:solidFill>
                <a:latin typeface="Calibri"/>
              </a:rPr>
              <a:t>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8" y="4453128"/>
            <a:ext cx="10954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  <a:latin typeface="Calibri"/>
              </a:rPr>
              <a:t>Crash-stop → make kill-payment — sem perda de mensagens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4837176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600"/>
                </a:solidFill>
                <a:latin typeface="Calibri"/>
              </a:rPr>
              <a:t>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8" y="4837176"/>
            <a:ext cx="10954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  <a:latin typeface="Calibri"/>
              </a:rPr>
              <a:t>Race condition → SELECT FOR UPDATE — zero overbooking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221224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600"/>
                </a:solidFill>
                <a:latin typeface="Calibri"/>
              </a:rPr>
              <a:t>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9808" y="5221224"/>
            <a:ext cx="10954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  <a:latin typeface="Calibri"/>
              </a:rPr>
              <a:t>DLQ → make send-failures (30% falha) → make inspect-dlq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605272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600"/>
                </a:solidFill>
                <a:latin typeface="Calibri"/>
              </a:rPr>
              <a:t>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9808" y="5605272"/>
            <a:ext cx="10954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  <a:latin typeface="Calibri"/>
              </a:rPr>
              <a:t>Escalabilidade → make scale-workers N=5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5961888"/>
            <a:ext cx="11247120" cy="804672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84632" y="5989320"/>
            <a:ext cx="11192256" cy="749808"/>
          </a:xfrm>
          <a:prstGeom prst="rect">
            <a:avLst/>
          </a:prstGeom>
          <a:solidFill>
            <a:srgbClr val="14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360" y="6053327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600"/>
                </a:solidFill>
                <a:latin typeface="Calibri"/>
              </a:rPr>
              <a:t>[ SCREENSHOT — SUBSTITUIR ]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4360" y="6300215"/>
            <a:ext cx="10972800" cy="321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Frontend TicketLab — tela principal com eventos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6600"/>
                </a:solidFill>
                <a:latin typeface="Calibri"/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Demo: Saga Coreografada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78407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  <a:latin typeface="Calibri"/>
              </a:rPr>
              <a:t>Um pedido passa por 4 etapas — cada uma é um worker independente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07592"/>
            <a:ext cx="11274552" cy="3657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23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463040"/>
            <a:ext cx="5760720" cy="235915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463040"/>
            <a:ext cx="502920" cy="2359152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19" y="1536192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6600"/>
                </a:solidFill>
                <a:latin typeface="Calibri"/>
              </a:rPr>
              <a:t>1. Compra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19" y="1965960"/>
            <a:ext cx="49377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Formulário preenchido → POST /orders
API retorna { status: 'pending' } imediato.
Publica em ticket-sales (routing_key='payment').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19" y="2971800"/>
            <a:ext cx="4892040" cy="7498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87551" y="2999232"/>
            <a:ext cx="4837176" cy="694944"/>
          </a:xfrm>
          <a:prstGeom prst="rect">
            <a:avLst/>
          </a:prstGeom>
          <a:solidFill>
            <a:srgbClr val="14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79" y="3063240"/>
            <a:ext cx="4617720" cy="187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600"/>
                </a:solidFill>
                <a:latin typeface="Calibri"/>
              </a:rPr>
              <a:t>[ SCREENSHOT — SUBSTITUIR 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79" y="3296412"/>
            <a:ext cx="4617720" cy="299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SCREENSHOT: tela de compra preenchida — localhost:3000/buy
Capturar com o formulário preenchido antes de clicar.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36792" y="1463040"/>
            <a:ext cx="5760720" cy="235915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36792" y="1463040"/>
            <a:ext cx="502920" cy="2359152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6872" y="1536192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39C12"/>
                </a:solidFill>
                <a:latin typeface="Calibri"/>
              </a:rPr>
              <a:t>2. Pagamento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76872" y="1965960"/>
            <a:ext cx="49377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payment-worker consome payment-queue.
Valida → publica em payment-approved.
Status: 'processing'.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76872" y="2971800"/>
            <a:ext cx="4892040" cy="7498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04304" y="2999232"/>
            <a:ext cx="4837176" cy="694944"/>
          </a:xfrm>
          <a:prstGeom prst="rect">
            <a:avLst/>
          </a:prstGeom>
          <a:solidFill>
            <a:srgbClr val="14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14032" y="3063240"/>
            <a:ext cx="4617720" cy="187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600"/>
                </a:solidFill>
                <a:latin typeface="Calibri"/>
              </a:rPr>
              <a:t>[ SCREENSHOT — SUBSTITUIR 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14032" y="3296412"/>
            <a:ext cx="4617720" cy="299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SCREENSHOT: painel Orders mostrando status 'processing'
localhost:3000/orders — filtrar por status.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4005072"/>
            <a:ext cx="5760720" cy="235915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4005072"/>
            <a:ext cx="502920" cy="2359152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19" y="4078224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CC71"/>
                </a:solidFill>
                <a:latin typeface="Calibri"/>
              </a:rPr>
              <a:t>3. Estoque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19" y="4507992"/>
            <a:ext cx="49377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stock-worker consome stock-queue.
SELECT FOR UPDATE → reserva ingresso.
Status: 'stock_reserved'.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119" y="5513831"/>
            <a:ext cx="4892040" cy="7498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87551" y="5541264"/>
            <a:ext cx="4837176" cy="694944"/>
          </a:xfrm>
          <a:prstGeom prst="rect">
            <a:avLst/>
          </a:prstGeom>
          <a:solidFill>
            <a:srgbClr val="14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79" y="5605271"/>
            <a:ext cx="4617720" cy="187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600"/>
                </a:solidFill>
                <a:latin typeface="Calibri"/>
              </a:rPr>
              <a:t>[ SCREENSHOT — SUBSTITUIR 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79" y="5838443"/>
            <a:ext cx="4617720" cy="299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(capturar em sequência, mesmo vídeo se possível)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36792" y="4005072"/>
            <a:ext cx="5760720" cy="235915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36792" y="4005072"/>
            <a:ext cx="502920" cy="2359152"/>
          </a:xfrm>
          <a:prstGeom prst="rect">
            <a:avLst/>
          </a:prstGeom>
          <a:solidFill>
            <a:srgbClr val="298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76872" y="4078224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980B9"/>
                </a:solidFill>
                <a:latin typeface="Calibri"/>
              </a:rPr>
              <a:t>4. Confirmação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76872" y="4507992"/>
            <a:ext cx="49377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notification-worker gera ticket_code UUID.
Verifica idempotência → status: 'confirmed'.
Ingresso na mão do comprador.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76872" y="5513831"/>
            <a:ext cx="4892040" cy="7498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004304" y="5541264"/>
            <a:ext cx="4837176" cy="694944"/>
          </a:xfrm>
          <a:prstGeom prst="rect">
            <a:avLst/>
          </a:prstGeom>
          <a:solidFill>
            <a:srgbClr val="14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14032" y="5605271"/>
            <a:ext cx="4617720" cy="187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600"/>
                </a:solidFill>
                <a:latin typeface="Calibri"/>
              </a:rPr>
              <a:t>[ SCREENSHOT — SUBSTITUIR 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14032" y="5838443"/>
            <a:ext cx="4617720" cy="299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SCREENSHOT: pedido com status 'confirmed' e ticket_code
localhost:3000/orders → detalhe do pedido.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6600"/>
                </a:solidFill>
                <a:latin typeface="Calibri"/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Demo: Falhas na Prática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78407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  <a:latin typeface="Calibri"/>
              </a:rPr>
              <a:t>Três cenários — o sistema é resiliente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07592"/>
            <a:ext cx="11274552" cy="3657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24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463040"/>
            <a:ext cx="3840480" cy="50292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463040"/>
            <a:ext cx="3840480" cy="475488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517904"/>
            <a:ext cx="3611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A1A2E"/>
                </a:solidFill>
                <a:latin typeface="Calibri"/>
              </a:rPr>
              <a:t>Dead Letter Queue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1993392"/>
            <a:ext cx="3611880" cy="1371600"/>
          </a:xfrm>
          <a:prstGeom prst="rect">
            <a:avLst/>
          </a:prstGeom>
          <a:solidFill>
            <a:srgbClr val="0D0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" y="2084832"/>
            <a:ext cx="339242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2ECC71"/>
                </a:solidFill>
                <a:latin typeface="Courier New"/>
              </a:rPr>
              <a:t>make send-failures</a:t>
            </a:r>
          </a:p>
          <a:p>
            <a:pPr algn="l"/>
            <a:r>
              <a:rPr sz="1150">
                <a:solidFill>
                  <a:srgbClr val="2ECC71"/>
                </a:solidFill>
                <a:latin typeface="Courier New"/>
              </a:rPr>
              <a:t>→ 30% de pedidos com simulate_failure</a:t>
            </a:r>
          </a:p>
          <a:p>
            <a:pPr algn="l"/>
            <a:r>
              <a:rPr sz="1150">
                <a:solidFill>
                  <a:srgbClr val="2ECC71"/>
                </a:solidFill>
                <a:latin typeface="Courier New"/>
              </a:rPr>
              <a:t>→ 3 retries → NACK → DLQ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3429000"/>
            <a:ext cx="3611880" cy="502920"/>
          </a:xfrm>
          <a:prstGeom prst="rect">
            <a:avLst/>
          </a:prstGeom>
          <a:solidFill>
            <a:srgbClr val="082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3474720"/>
            <a:ext cx="3429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C71"/>
                </a:solidFill>
                <a:latin typeface="Calibri"/>
              </a:rPr>
              <a:t>make inspect-dlq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" y="4005072"/>
            <a:ext cx="3611880" cy="237744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79" y="4032504"/>
            <a:ext cx="3557016" cy="2322576"/>
          </a:xfrm>
          <a:prstGeom prst="rect">
            <a:avLst/>
          </a:prstGeom>
          <a:solidFill>
            <a:srgbClr val="14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7" y="4096511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600"/>
                </a:solidFill>
                <a:latin typeface="Calibri"/>
              </a:rPr>
              <a:t>[ SCREENSHOT — SUBSTITUIR 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7" y="4416551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SCREENSHOT: RabbitMQ UI
Queues → dead-letter-queue
N mensagens acumuladas
localhost:15672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80" y="1463040"/>
            <a:ext cx="3840480" cy="50292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97680" y="1463040"/>
            <a:ext cx="3840480" cy="47548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07408" y="1517904"/>
            <a:ext cx="3611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A1A2E"/>
                </a:solidFill>
                <a:latin typeface="Calibri"/>
              </a:rPr>
              <a:t>Crash-stop Worker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07408" y="1993392"/>
            <a:ext cx="3611880" cy="1371600"/>
          </a:xfrm>
          <a:prstGeom prst="rect">
            <a:avLst/>
          </a:prstGeom>
          <a:solidFill>
            <a:srgbClr val="0D0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17136" y="2084832"/>
            <a:ext cx="339242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2ECC71"/>
                </a:solidFill>
                <a:latin typeface="Courier New"/>
              </a:rPr>
              <a:t>make send-1000</a:t>
            </a:r>
          </a:p>
          <a:p>
            <a:pPr algn="l"/>
            <a:r>
              <a:rPr sz="1150">
                <a:solidFill>
                  <a:srgbClr val="2ECC71"/>
                </a:solidFill>
                <a:latin typeface="Courier New"/>
              </a:rPr>
              <a:t>make kill-payment</a:t>
            </a:r>
          </a:p>
          <a:p>
            <a:pPr algn="l"/>
            <a:r>
              <a:rPr sz="1150">
                <a:solidFill>
                  <a:srgbClr val="2ECC71"/>
                </a:solidFill>
                <a:latin typeface="Courier New"/>
              </a:rPr>
              <a:t>make logs-payment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07408" y="3429000"/>
            <a:ext cx="3611880" cy="502920"/>
          </a:xfrm>
          <a:prstGeom prst="rect">
            <a:avLst/>
          </a:prstGeom>
          <a:solidFill>
            <a:srgbClr val="082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98848" y="3474720"/>
            <a:ext cx="3429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C71"/>
                </a:solidFill>
                <a:latin typeface="Calibri"/>
              </a:rPr>
              <a:t>→ outro worker assume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07408" y="4005072"/>
            <a:ext cx="3611880" cy="237744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34840" y="4032504"/>
            <a:ext cx="3557016" cy="2322576"/>
          </a:xfrm>
          <a:prstGeom prst="rect">
            <a:avLst/>
          </a:prstGeom>
          <a:solidFill>
            <a:srgbClr val="14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44568" y="4096511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600"/>
                </a:solidFill>
                <a:latin typeface="Calibri"/>
              </a:rPr>
              <a:t>[ SCREENSHOT — SUBSTITUIR 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44568" y="4416551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SCREENSHOT / GIF: Grafana
consumer count caindo de 2→1
e fila sendo drenada
localhost:3001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21040" y="1463040"/>
            <a:ext cx="3840480" cy="50292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321040" y="1463040"/>
            <a:ext cx="3840480" cy="475488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30768" y="1517904"/>
            <a:ext cx="3611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A1A2E"/>
                </a:solidFill>
                <a:latin typeface="Calibri"/>
              </a:rPr>
              <a:t>Crash-recovery Broker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30768" y="1993392"/>
            <a:ext cx="3611880" cy="1371600"/>
          </a:xfrm>
          <a:prstGeom prst="rect">
            <a:avLst/>
          </a:prstGeom>
          <a:solidFill>
            <a:srgbClr val="0D0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40496" y="2084832"/>
            <a:ext cx="339242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2ECC71"/>
                </a:solidFill>
                <a:latin typeface="Courier New"/>
              </a:rPr>
              <a:t>make restart-rabbit</a:t>
            </a:r>
          </a:p>
          <a:p>
            <a:pPr algn="l"/>
            <a:r>
              <a:rPr sz="1150">
                <a:solidFill>
                  <a:srgbClr val="2ECC71"/>
                </a:solidFill>
                <a:latin typeface="Courier New"/>
              </a:rPr>
              <a:t>→ msgs PERSISTENT no disco</a:t>
            </a:r>
          </a:p>
          <a:p>
            <a:pPr algn="l"/>
            <a:r>
              <a:rPr sz="1150">
                <a:solidFill>
                  <a:srgbClr val="2ECC71"/>
                </a:solidFill>
                <a:latin typeface="Courier New"/>
              </a:rPr>
              <a:t>→ workers reconectam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30768" y="3429000"/>
            <a:ext cx="3611880" cy="502920"/>
          </a:xfrm>
          <a:prstGeom prst="rect">
            <a:avLst/>
          </a:prstGeom>
          <a:solidFill>
            <a:srgbClr val="082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22208" y="3474720"/>
            <a:ext cx="3429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C71"/>
                </a:solidFill>
                <a:latin typeface="Calibri"/>
              </a:rPr>
              <a:t>connect_robust (backoff)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30768" y="4005072"/>
            <a:ext cx="3611880" cy="237744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458200" y="4032504"/>
            <a:ext cx="3557016" cy="2322576"/>
          </a:xfrm>
          <a:prstGeom prst="rect">
            <a:avLst/>
          </a:prstGeom>
          <a:solidFill>
            <a:srgbClr val="14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67928" y="4096511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600"/>
                </a:solidFill>
                <a:latin typeface="Calibri"/>
              </a:rPr>
              <a:t>[ SCREENSHOT — SUBSTITUIR 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67928" y="4416551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SCREENSHOT: RabbitMQ UI
após restart — filas intactas
localhost:15672 → Queues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Conclusão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  <a:latin typeface="Calibri"/>
              </a:rPr>
              <a:t>O que aprendemos sobre o RabbitMQ em Sistemas Distribuídos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78992"/>
            <a:ext cx="11274552" cy="3657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0" y="653796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25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08760"/>
            <a:ext cx="4114800" cy="3840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50876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2E"/>
                </a:solidFill>
                <a:latin typeface="Calibri"/>
              </a:rPr>
              <a:t>Questão do Professor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53712" y="1508760"/>
            <a:ext cx="7406640" cy="3840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508760"/>
            <a:ext cx="7406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2E"/>
                </a:solidFill>
                <a:latin typeface="Calibri"/>
              </a:rPr>
              <a:t>Resposta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911095"/>
            <a:ext cx="4114800" cy="49377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79" y="1965960"/>
            <a:ext cx="3931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6600"/>
                </a:solidFill>
                <a:latin typeface="Calibri"/>
              </a:rPr>
              <a:t>Onde é usado?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53712" y="1911095"/>
            <a:ext cx="7406640" cy="49377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1965960"/>
            <a:ext cx="722375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E-commerce, IoT, bancos, microserviços — desacoplamento temporal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423160"/>
            <a:ext cx="4114800" cy="493776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79" y="2478024"/>
            <a:ext cx="3931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6600"/>
                </a:solidFill>
                <a:latin typeface="Calibri"/>
              </a:rPr>
              <a:t>Funcionalidades?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53712" y="2423160"/>
            <a:ext cx="7406640" cy="493776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45152" y="2478024"/>
            <a:ext cx="722375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Exchanges, durable queues, PERSISTENT, ACK, DLX, QoS, plugins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935224"/>
            <a:ext cx="4114800" cy="49377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79" y="2990088"/>
            <a:ext cx="3931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6600"/>
                </a:solidFill>
                <a:latin typeface="Calibri"/>
              </a:rPr>
              <a:t>Falhas suportadas?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53712" y="2935224"/>
            <a:ext cx="7406640" cy="49377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45152" y="2990088"/>
            <a:ext cx="722375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Crash-stop, crash-recovery, retry+DLQ. Não suporta Byzantine.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447288"/>
            <a:ext cx="4114800" cy="493776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79" y="3502152"/>
            <a:ext cx="3931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6600"/>
                </a:solidFill>
                <a:latin typeface="Calibri"/>
              </a:rPr>
              <a:t>Confiabilidade?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53712" y="3447288"/>
            <a:ext cx="7406640" cy="493776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45152" y="3502152"/>
            <a:ext cx="722375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Perfect Links (at-least-once) + aprox. Reliable Broadcast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3959352"/>
            <a:ext cx="4114800" cy="49377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79" y="4014215"/>
            <a:ext cx="3931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6600"/>
                </a:solidFill>
                <a:latin typeface="Calibri"/>
              </a:rPr>
              <a:t>Ordenação?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53712" y="3959352"/>
            <a:ext cx="7406640" cy="49377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45152" y="4014215"/>
            <a:ext cx="722375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FIFO com 1 consumer. N consumers → requer particionamento.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4471416"/>
            <a:ext cx="4114800" cy="493776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79" y="4526280"/>
            <a:ext cx="3931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6600"/>
                </a:solidFill>
                <a:latin typeface="Calibri"/>
              </a:rPr>
              <a:t>Implementação?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53712" y="4471416"/>
            <a:ext cx="7406640" cy="493776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45152" y="4526280"/>
            <a:ext cx="722375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Calibri"/>
              </a:rPr>
              <a:t>AMQP 0-9-1, Erlang/Mnesia, protocolo ACK, SELECT FOR UPDATE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" y="470916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600"/>
                </a:solidFill>
                <a:latin typeface="Calibri"/>
              </a:rPr>
              <a:t>Próximos passos para produção: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" y="5074920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6600"/>
                </a:solidFill>
                <a:latin typeface="Calibri"/>
              </a:rPr>
              <a:t>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2647" y="5074920"/>
            <a:ext cx="111373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CCCCC"/>
                </a:solidFill>
                <a:latin typeface="Calibri"/>
              </a:rPr>
              <a:t>Publisher confirms → Reliable Broadcast formal (saindo do BEB)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" y="5440680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6600"/>
                </a:solidFill>
                <a:latin typeface="Calibri"/>
              </a:rPr>
              <a:t>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7" y="5440680"/>
            <a:ext cx="111373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CCCCC"/>
                </a:solidFill>
                <a:latin typeface="Calibri"/>
              </a:rPr>
              <a:t>Outbox Pattern → zero perda durante partição producer↔broker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" y="5806440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6600"/>
                </a:solidFill>
                <a:latin typeface="Calibri"/>
              </a:rPr>
              <a:t>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2647" y="5806440"/>
            <a:ext cx="111373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CCCCC"/>
                </a:solidFill>
                <a:latin typeface="Calibri"/>
              </a:rPr>
              <a:t>Quorum Queues (Raft) → aproximação de URB nativa no RabbitMQ 3.8+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" y="6172200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6600"/>
                </a:solidFill>
                <a:latin typeface="Calibri"/>
              </a:rPr>
              <a:t>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7" y="6172200"/>
            <a:ext cx="111373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CCCCC"/>
                </a:solidFill>
                <a:latin typeface="Calibri"/>
              </a:rPr>
              <a:t>Kafka + partition keys → ordem total por evento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0040" y="649224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6600"/>
                </a:solidFill>
                <a:latin typeface="Calibri"/>
              </a:rPr>
              <a:t>Obrigado. Ficamos à disposição para perguntas.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