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28800"/>
            <a:ext cx="11686032" cy="32004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6600"/>
                </a:solidFill>
                <a:latin typeface="Calibri"/>
              </a:rPr>
              <a:t>RabbitMQ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Mensageria em Sistemas Distribuídos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88888"/>
                </a:solidFill>
                <a:latin typeface="Calibri"/>
              </a:rPr>
              <a:t>Confiabilidade · Ordenação · Tolerância a Falhas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133087"/>
            <a:ext cx="94457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51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Calibri"/>
              </a:rPr>
              <a:t>Caroline da Rocha de Lima  ·  Giovani da Silva Cancherini  ·  Arthur Real Sanchotene Ferreira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64515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Calibri"/>
              </a:rPr>
              <a:t>Osmar Sadi Nether Filho  ·  Leonardo Vargas Schilling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10235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888888"/>
                </a:solidFill>
                <a:latin typeface="Calibri"/>
              </a:rPr>
              <a:t>Sistemas Distribuídos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34440"/>
            <a:ext cx="621792" cy="62179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3444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  <a:latin typeface="Calibri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3272" y="1234440"/>
            <a:ext cx="52578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134416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O que é — e por que existe?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84248"/>
            <a:ext cx="621792" cy="621792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984248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  <a:latin typeface="Calibri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" y="1984248"/>
            <a:ext cx="52578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209397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Arquitetura e Funcionalidades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734056"/>
            <a:ext cx="621792" cy="62179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73405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  <a:latin typeface="Calibri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3272" y="2734056"/>
            <a:ext cx="52578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" y="284378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Tipos de Falhas Suportadas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483864"/>
            <a:ext cx="621792" cy="621792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483864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  <a:latin typeface="Calibri"/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3272" y="3483864"/>
            <a:ext cx="52578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61288" y="359359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Confiabilidade — modelos formais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234440"/>
            <a:ext cx="621792" cy="621792"/>
          </a:xfrm>
          <a:prstGeom prst="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23444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  <a:latin typeface="Calibri"/>
              </a:rPr>
              <a:t>05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22592" y="1234440"/>
            <a:ext cx="52578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50608" y="134416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Ordenação de Mensagens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984248"/>
            <a:ext cx="621792" cy="621792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984248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  <a:latin typeface="Calibri"/>
              </a:rPr>
              <a:t>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22592" y="1984248"/>
            <a:ext cx="52578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50608" y="209397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Implementação Interna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734056"/>
            <a:ext cx="621792" cy="62179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73405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  <a:latin typeface="Calibri"/>
              </a:rPr>
              <a:t>07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22592" y="2734056"/>
            <a:ext cx="52578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50608" y="284378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Demonstração Prática — TicketLab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HTTP síncrono: uma cadeia que quebra pela parte mais fraca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  <a:latin typeface="Calibri"/>
              </a:rPr>
              <a:t>Imagine o Lollapalooza abrindo vendas às 10h — 50.000 pessoas clicando ao mesmo tempo.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65960"/>
            <a:ext cx="7040880" cy="210312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057400"/>
            <a:ext cx="6821424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Usuário → API → chama Pagamento (aguarda 3s)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            → chama Estoque   (aguarda 1s)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            → chama Email     (aguarda 2s)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            ← responde após 6 segundos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Se Pagamento demorar 30s   → Timeout. Usuário vê erro 500.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Se Estoque cair            → Toda a compra falha.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2 usuários simultâneos     → Overbooking possível.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4114800" cy="2103120"/>
          </a:xfrm>
          <a:prstGeom prst="rect">
            <a:avLst/>
          </a:prstGeom>
          <a:solidFill>
            <a:srgbClr val="30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2029968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O que falha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239572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395728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Timeout em cascata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2779776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779776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Falha se qualquer
serviço cair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163824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16382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Overbooking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54787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547872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Thread presa até o fim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8" y="393192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931920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Escalar = problema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60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6600"/>
                </a:solidFill>
                <a:latin typeface="Calibri"/>
              </a:rPr>
              <a:t>▸ Dica: abrir no browser antes da apresentação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34840"/>
            <a:ext cx="11274552" cy="21488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" y="4462272"/>
            <a:ext cx="11219688" cy="209397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526279"/>
            <a:ext cx="11000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VÍDEO OPCIONAL — SUBSTITUIR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846319"/>
            <a:ext cx="110002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'RabbitMQ in 100 Seconds' — Fireship (YouTube)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303520"/>
            <a:ext cx="110002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Buscar: 'RabbitMQ in 100 Seconds Fireship' | Abrir no browser, reproduzir primeiros 45 segundos.
Mostra o problema do HTTP síncrono de forma animada. Pausar antes do slide 4.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 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Desacoplar produção de consumo via broker de mensagens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1691640" cy="82296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Usuário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1828800"/>
            <a:ext cx="1691640" cy="82296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182880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828800"/>
            <a:ext cx="1691640" cy="82296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82880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Fila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828800"/>
            <a:ext cx="16916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82880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worker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60" y="1828800"/>
            <a:ext cx="16916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82880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worker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0" y="1828800"/>
            <a:ext cx="16916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0" y="182880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worker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0299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20299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20299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20299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0" y="20299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40" y="2788920"/>
            <a:ext cx="3611880" cy="384048"/>
          </a:xfrm>
          <a:prstGeom prst="rect">
            <a:avLst/>
          </a:prstGeom>
          <a:solidFill>
            <a:srgbClr val="053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14600" y="2834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  <a:latin typeface="Calibri"/>
              </a:rPr>
              <a:t>↩  API responde imediato: { "status": "pending" 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383280"/>
            <a:ext cx="3657600" cy="2560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383280"/>
            <a:ext cx="3657600" cy="43891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438144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Resposta imediata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88620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API retorna na hora. Processamento ocorre em background.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3383280"/>
            <a:ext cx="3657600" cy="2560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43400" y="3383280"/>
            <a:ext cx="3657600" cy="438912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53128" y="3438144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Workers independentes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3128" y="388620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Cada etapa é um serviço separado. Falha num não para os outros.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3383280"/>
            <a:ext cx="3657600" cy="2560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3383280"/>
            <a:ext cx="3657600" cy="438912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39327" y="3438144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Escalabilidade natural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9327" y="388620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Adicionar workers = aumentar throughput sem mudar a API.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 que é o RabbitMQ?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Message broker open-source — o intermediário confiável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3749039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3749039" cy="5486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54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Calibri"/>
              </a:rPr>
              <a:t>Message 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4884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Intermediário entre quem envia e quem recebe mensagens.
Desacopla produtor de consumidor no tempo e no espaço.
Não é um banco de dados — é um canal confiável.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508760"/>
            <a:ext cx="3749039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508760"/>
            <a:ext cx="3749039" cy="5486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554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Calibri"/>
              </a:rPr>
              <a:t>Protocolo AMQP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4884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Implementa AMQP 0-9-1 (Advanced Message Queuing Protocol).
Protocolo aberto, binário, com semântica bem definida de ACK.
Também suporta STOMP, MQTT e AMQP 1.0 via plugins.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508760"/>
            <a:ext cx="3749039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508760"/>
            <a:ext cx="3749039" cy="54864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554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Calibri"/>
              </a:rPr>
              <a:t>Erlang / OTP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14884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Escrito em Erlang — linguagem criada para sistemas de telecom
com 99,9999999% de disponibilidade (nine nines).
Isolamento de processos e recuperação de falhas nativos.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Onde é utilizado?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Qualquer sistema que precisa desacoplar e escalar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210312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08760"/>
            <a:ext cx="2103120" cy="47548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55448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E-commerce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057400"/>
            <a:ext cx="1920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Checkout → pagamento → estoque → notificação.
Exatamente o nosso projeto TicketLab.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1508760"/>
            <a:ext cx="210312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1760" y="1508760"/>
            <a:ext cx="2103120" cy="475488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5448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Sistemas bancários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057400"/>
            <a:ext cx="1920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Processamento assíncrono de transações.
Auditoria e filas de conciliação.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83480" y="1508760"/>
            <a:ext cx="210312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83480" y="1508760"/>
            <a:ext cx="2103120" cy="475488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55448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IoT e sensores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57400"/>
            <a:ext cx="1920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Ingestão de eventos de milhares de dispositivos.
Fanout para múltiplos consumidores analíticos.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1508760"/>
            <a:ext cx="210312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0" y="1508760"/>
            <a:ext cx="2103120" cy="475488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155448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Microserviços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057400"/>
            <a:ext cx="1920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Comunicação entre bounded contexts sem acoplamento temporal.
Event-driven architecture.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46920" y="1508760"/>
            <a:ext cx="210312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46920" y="1508760"/>
            <a:ext cx="2103120" cy="475488"/>
          </a:xfrm>
          <a:prstGeom prst="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38360" y="155448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Reservas / Ingressos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2057400"/>
            <a:ext cx="1920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Controle de concorrência em estoque limitado.
Fila garante que só um worker por vez altera o estoque.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Arquitetura Interna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Producer → Exchange → Queue → Consumer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6949440" cy="43891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4632" y="1490472"/>
            <a:ext cx="6894576" cy="433425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IMAGEM — SUBSTITUIR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74519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Diagrama oficial — Producer → Exchange → Queue → Consumer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331720"/>
            <a:ext cx="667512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Buscar: 'RabbitMQ Hello World tutorial diagram' em rabbitmq.com/tutorials
Copiar a imagem do tutorial 'Hello World' (fundo branco, setas claras).
Substituir este placeholder. Redimensionar para ocupar o espaço.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0" y="1463040"/>
            <a:ext cx="429768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1463040"/>
            <a:ext cx="164592" cy="98755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1517904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Producer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1865376"/>
            <a:ext cx="3840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Envia mensagens para o Exchange. Não conhece as filas.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560320"/>
            <a:ext cx="429768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0" y="2560320"/>
            <a:ext cx="164592" cy="987552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2615184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Exchange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962656"/>
            <a:ext cx="3840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Recebe e roteia via Binding + Routing Key. Não armazena.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3657600"/>
            <a:ext cx="429768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3657600"/>
            <a:ext cx="164592" cy="98755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36992" y="3712463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Queue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6992" y="4059936"/>
            <a:ext cx="3840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Armazena mensagens até o consumer estar pronto.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4754879"/>
            <a:ext cx="429768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0" y="4754879"/>
            <a:ext cx="164592" cy="987552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36992" y="4809743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980B9"/>
                </a:solidFill>
                <a:latin typeface="Calibri"/>
              </a:rPr>
              <a:t>Consumer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36992" y="5157216"/>
            <a:ext cx="3840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Processa e envia ACK. Só então o broker remove da fila.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Exchange Direct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Como usamos no TicketLab — roteamento pela chave exata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6858000" cy="43891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" y="1490472"/>
            <a:ext cx="6803136" cy="433425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IMAGEM — SUBSTITUIR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874519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Direct Exchange — routing_key exata roteia para a fila correspondente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331720"/>
            <a:ext cx="658368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Buscar: 'RabbitMQ direct exchange diagram' em cloudamqp.com/blog/rabbitmq-exchanges-tutorial.html
CloudAMQP tem diagramas limpos e coloridos para cada tipo. Usar o de Direct Exchange.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146304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600"/>
                </a:solidFill>
                <a:latin typeface="Calibri"/>
              </a:rPr>
              <a:t>No TicketLab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1901952"/>
            <a:ext cx="4480560" cy="128016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99248" y="1993392"/>
            <a:ext cx="42611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ticket-sales    → routing_key='payment'   → payment-queue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payment-approved → routing_key='stock'    → stock-queue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stock-confirmed  → routing_key='notification' → notification-queue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29184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Por que Direct?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65760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3657600"/>
            <a:ext cx="4187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Pipeline linear: cada etapa
tem uma fila dedicada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411480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4114800"/>
            <a:ext cx="4187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Routing simples e previsível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457200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8" y="4572000"/>
            <a:ext cx="4187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Fácil de monitorar no
Management UI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Outros Tipos de Exchange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Fanout · Topic · Headers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63040"/>
            <a:ext cx="3749039" cy="2926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63040"/>
            <a:ext cx="3749039" cy="475488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150876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</a:rPr>
              <a:t>Fanout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2029968"/>
            <a:ext cx="35204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Copia para TODAS as filas vinculadas.
Ignora routing key.
Uso: broadcast de eventos (logs, auditoria, notificações globais).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480560"/>
            <a:ext cx="3749039" cy="201168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4507992"/>
            <a:ext cx="3694176" cy="195681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5720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IMAGEM — SUBSTITUIR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92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Diagrama Fanout Exchange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4924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Buscar: 'RabbitMQ fanout exchange diagram' cloudamqp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1463040"/>
            <a:ext cx="3749039" cy="2926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79" y="1463040"/>
            <a:ext cx="3749039" cy="475488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07407" y="150876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</a:rPr>
              <a:t>Topic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7" y="2029968"/>
            <a:ext cx="35204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Padrão com wildcards: * (uma palavra) e # (zero ou mais).
'order.#' captura 'order.created', 'order.paid'...
Uso: sistemas de eventos flexíveis.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79" y="4480560"/>
            <a:ext cx="3749039" cy="201168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25112" y="4507992"/>
            <a:ext cx="3694176" cy="195681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45720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IMAGEM — SUBSTITUIR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92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Diagrama Topic Exchange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534924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Buscar: 'RabbitMQ topic exchange diagram' cloudamqp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75319" y="1463040"/>
            <a:ext cx="3749039" cy="2926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75319" y="1463040"/>
            <a:ext cx="3749039" cy="475488"/>
          </a:xfrm>
          <a:prstGeom prst="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7" y="150876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</a:rPr>
              <a:t>Headers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5047" y="2029968"/>
            <a:ext cx="35204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Roteia por atributos do cabeçalho AMQP.
Mais expressivo que Topic, mais raro na prática.
Uso: roteamento por metadados arbitrários.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19" y="4480560"/>
            <a:ext cx="3749039" cy="201168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02751" y="4507992"/>
            <a:ext cx="3694176" cy="195681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45720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IMAGEM — SUBSTITUIR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892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Diagrama Headers Exchange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534924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Buscar: 'RabbitMQ headers exchange diagram' cloudamqp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Funcionalidades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O que o RabbitMQ oferece além do roteamento básico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557784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164592" cy="98755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7276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Mensagens Persistentes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47672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delivery_mode=PERSISTENT → grava em disco antes de confirmar. Sem isso, reinício apaga tudo.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01968" y="1508760"/>
            <a:ext cx="557784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01968" y="1508760"/>
            <a:ext cx="164592" cy="98755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76288" y="157276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Filas Durable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6288" y="1947672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Metadados da fila ficam no disco. Broker reinicia → fila existe e mensagens voltam.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697480"/>
            <a:ext cx="557784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697480"/>
            <a:ext cx="164592" cy="98755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76148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ACK 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136392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Consumer confirma só após processar e salvar. Broker só remove ao receber 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1968" y="2697480"/>
            <a:ext cx="557784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01968" y="2697480"/>
            <a:ext cx="164592" cy="98755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276148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Dead Letter Exchange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3136392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NACK sem requeue → DLX → Dead Letter Queue para análise e reprocessamento.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886200"/>
            <a:ext cx="557784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886200"/>
            <a:ext cx="164592" cy="987552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95020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QoS / Prefetch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25112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prefetch_count limita msgs em voo por consumer. Backpressure automático.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1968" y="3886200"/>
            <a:ext cx="557784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01968" y="3886200"/>
            <a:ext cx="164592" cy="987552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76288" y="395020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980B9"/>
                </a:solidFill>
                <a:latin typeface="Calibri"/>
              </a:rPr>
              <a:t>Management UI /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4325112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Interface web + HTTP API para monitorar filas, consumers e publicar msgs.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FALHAS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Falha 1: Crash-stop do Worker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O container morre — nenhuma mensagem se perde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08760"/>
            <a:ext cx="2011680" cy="9144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Fila
payment-queue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1508760"/>
            <a:ext cx="2011680" cy="91440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5087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Worker A
(processando)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08760"/>
            <a:ext cx="2011680" cy="91440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5087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Worker B
(aguardando)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783080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78308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88888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2651760"/>
            <a:ext cx="2011680" cy="502920"/>
          </a:xfrm>
          <a:prstGeom prst="rect">
            <a:avLst/>
          </a:prstGeom>
          <a:solidFill>
            <a:srgbClr val="40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0" y="269748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✗  Worker A cai (SIGKILL)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20040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6600"/>
                </a:solidFill>
                <a:latin typeface="Calibri"/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3657600"/>
            <a:ext cx="2011680" cy="621792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9232" y="3675887"/>
            <a:ext cx="18745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39C12"/>
                </a:solidFill>
                <a:latin typeface="Calibri"/>
              </a:rPr>
              <a:t>msgs unacked
voltam para ready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85876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CC71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60" y="3657600"/>
            <a:ext cx="2011680" cy="621792"/>
          </a:xfrm>
          <a:prstGeom prst="rect">
            <a:avLst/>
          </a:prstGeom>
          <a:solidFill>
            <a:srgbClr val="0A3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0" y="3675887"/>
            <a:ext cx="20116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CC71"/>
                </a:solidFill>
                <a:latin typeface="Calibri"/>
              </a:rPr>
              <a:t>Worker B
assume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0" y="1508760"/>
            <a:ext cx="4206240" cy="32461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157276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Por que não perde mensagens?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9560" y="199339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1993392"/>
            <a:ext cx="3639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TCP disconnect detectado
→ RabbitMQ libera msgs unacked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2432304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2432304"/>
            <a:ext cx="3639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Outras msgs na fila:
estado ready, esperando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2871216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2168" y="2871216"/>
            <a:ext cx="3639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Worker B (ou C) pega
as mensagens liberadas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331012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2168" y="3310128"/>
            <a:ext cx="3639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Sem intervenção manual —
automático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846320"/>
            <a:ext cx="7132320" cy="100584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937759"/>
            <a:ext cx="69128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make send-1000      # enche a fila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make kill-payment   # mata um worker abruptamente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make logs-payment   # ver outro worker assumindo as mensagens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0" y="4846320"/>
            <a:ext cx="4206240" cy="10058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99831" y="4873752"/>
            <a:ext cx="4151376" cy="95097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09560" y="4937759"/>
            <a:ext cx="3931920" cy="251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GIF / SCREENSHOT — SUBSTITUIR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5234940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Terminal: make kill-payment + make logs-payment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09560" y="5715000"/>
            <a:ext cx="3931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Gravar GIF do terminal com ScreenToGif (Windows) ou OBS executando os 3 comandos acima.
Alt: screenshot de logs mostrando outro worker retomando msgs.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FALHAS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Falha 2: Crash-recovery + Retry + DLQ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O broker reinicia · A lógica falha · O destino final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3749039" cy="4846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3749039" cy="43891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54480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Crash-recovery do Broker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011680"/>
            <a:ext cx="3182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RabbitMQ reinicia
(docker restart)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45059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450592"/>
            <a:ext cx="3182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Mensagens PERSISTENT +
filas durable → no disco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889504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889504"/>
            <a:ext cx="3182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Workers reconectam
automaticamente (connect_robust)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328416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3328416"/>
            <a:ext cx="3182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Sistema retoma de onde parou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31920"/>
            <a:ext cx="3474720" cy="59436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4023359"/>
            <a:ext cx="32552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make restart-rabbit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572000"/>
            <a:ext cx="3474720" cy="82296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0352" y="4599432"/>
            <a:ext cx="3419856" cy="76809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63440"/>
            <a:ext cx="3200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1489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RabbitMQ UI após restart — filas com mensagens intactas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1508760"/>
            <a:ext cx="7498079" cy="4846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1508760"/>
            <a:ext cx="7498079" cy="438912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98848" y="1554480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Retry com Dead Letter Queue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98848" y="2011680"/>
            <a:ext cx="7178040" cy="233172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08576" y="2103120"/>
            <a:ext cx="6958583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msg → worker → lógica falha (RuntimeError)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 → republica com x-retry-count: 1 → ACK original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 → falha de novo → x-retry-count: 2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 → falha de novo → x-retry-count: 3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 → max_retries atingido!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 → NACK(requeue=False) → dead-letter-exchange → dead-letter-queue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8848" y="4434840"/>
            <a:ext cx="7178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Depois do make send-failures: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98848" y="4800600"/>
            <a:ext cx="7178040" cy="59436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26280" y="4828032"/>
            <a:ext cx="7123176" cy="53949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36008" y="4892040"/>
            <a:ext cx="6903720" cy="148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6008" y="5086349"/>
            <a:ext cx="6903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RabbitMQ UI — dead-letter-queue com N mensagens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FALHAS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Modelos de Falha — Resumo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O que suportamos vs. o que não suportamos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5577840" cy="4846320"/>
          </a:xfrm>
          <a:prstGeom prst="rect">
            <a:avLst/>
          </a:prstGeom>
          <a:solidFill>
            <a:srgbClr val="082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7276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  <a:latin typeface="Calibri"/>
              </a:rPr>
              <a:t>✓  Suportado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84831"/>
            <a:ext cx="5303520" cy="84124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3969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✓  Crash-stop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Worker morre → mensagens voltam para a fila automaticamente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72384"/>
            <a:ext cx="5303520" cy="84124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272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✓  Crash-recovery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51129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Broker reinicia → mensagens PERSISTENT sobrevivem no disco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059935"/>
            <a:ext cx="5303520" cy="84124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1479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✓  Omissão com retry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988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Falhas de lógica → DLQ após N tentativas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47488"/>
            <a:ext cx="5303520" cy="84124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102351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✓  Partição de rede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connect_robust reconecta com backoff exponencial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508760"/>
            <a:ext cx="5577840" cy="4846320"/>
          </a:xfrm>
          <a:prstGeom prst="rect">
            <a:avLst/>
          </a:prstGeom>
          <a:solidFill>
            <a:srgbClr val="300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57276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74C3C"/>
                </a:solidFill>
                <a:latin typeface="Calibri"/>
              </a:rPr>
              <a:t>✗  Não suportado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084831"/>
            <a:ext cx="5303520" cy="10972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13969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✗  Falhas Byzantinas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542032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Nó malicioso enviando mensagens forjadas ou corrompidas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319272"/>
            <a:ext cx="5303520" cy="10972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37413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✗  Exatamente-uma-vez nativo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776472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At-least-once → duplicatas possíveis (tratamos com idempotência)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89204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888888"/>
                </a:solidFill>
                <a:latin typeface="Calibri"/>
              </a:rPr>
              <a:t>Falhas Byzantinas requerem protocolo BFT dedicado (PBFT, Tendermint). Fora do escopo do RabbitMQ.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CONFIABILIDADE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Confiabilidade: Fair-Loss vs Perfect Link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O que acontece com as mensagens quando o broker cai?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39496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5394960" cy="5029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50876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</a:rPr>
              <a:t>Fair-Loss 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057400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CCCCCC"/>
                </a:solidFill>
                <a:latin typeface="Calibri"/>
              </a:rPr>
              <a:t>Msgs podem se perder, mas não são inventadas.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54203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88"/>
                </a:solidFill>
                <a:latin typeface="Calibri"/>
              </a:rPr>
              <a:t>Configuração: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880360"/>
            <a:ext cx="5074920" cy="96012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71800"/>
            <a:ext cx="4855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exchange  → non-durable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fila      → non-durable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delivery  → NON_PERSISTENT  (só RAM)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91363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Resultado: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25196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251960"/>
            <a:ext cx="4782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Broker reinicia → msgs na RAM somem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463600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636008"/>
            <a:ext cx="4782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Nenhum aviso ao producer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5020056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5020056"/>
            <a:ext cx="4782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Garantia? Nenhuma.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1463040"/>
            <a:ext cx="571500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80" y="1463040"/>
            <a:ext cx="5715000" cy="50292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1072" y="1508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</a:rPr>
              <a:t>Perfect Link (at-least-once)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1072" y="2057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CCCCCC"/>
                </a:solidFill>
                <a:latin typeface="Calibri"/>
              </a:rPr>
              <a:t>Toda msg enviada é eventualmente entregue.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1072" y="254203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  <a:latin typeface="Calibri"/>
              </a:rPr>
              <a:t>Nossa configuração: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91072" y="2880360"/>
            <a:ext cx="5394960" cy="128016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2971800"/>
            <a:ext cx="51755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exchange  → durable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fila      → durable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delivery  → PERSISTENT  (disco)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ACK       → manual (só após processar)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conexão   → connect_robust (reconecta)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4251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Ressalva: at-least-once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4572000"/>
            <a:ext cx="5486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Worker processa + falha antes do ACK → recebe de novo.
Idempotência (próximos slides) trata isso.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CONFIABILIDADE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BEB vs Reliable 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O producer falha no meio — o que acontece?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39496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5394960" cy="50292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50876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</a:rPr>
              <a:t>Best Effort Broadcast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057400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  <a:latin typeface="Calibri"/>
              </a:rPr>
              <a:t>O emissor dispara e não garante se ele mesmo falhar.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54203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No projeto — endpoint POST /batch: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880360"/>
            <a:ext cx="5074920" cy="96012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71800"/>
            <a:ext cx="4855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# publisher.py — sem publisher confirms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await exchange.publish(msg, routing_key='payment')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# Se broker cair AQUI → msg perdida. Producer não sabe.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93192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  <a:latin typeface="Calibri"/>
              </a:rPr>
              <a:t>Analogia: UDP em broadcast.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27939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279392"/>
            <a:ext cx="4782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Enviamos 1000 msgs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4626864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626864"/>
            <a:ext cx="4782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Broker cai na msg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974336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974336"/>
            <a:ext cx="4782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Msgs 501-1000 perdidas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5321807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321807"/>
            <a:ext cx="4782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Producer não tem como saber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463040"/>
            <a:ext cx="571500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1463040"/>
            <a:ext cx="5715000" cy="5029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91072" y="1508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</a:rPr>
              <a:t>Reliable Broadcast (aprox.)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2057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  <a:latin typeface="Calibri"/>
              </a:rPr>
              <a:t>Se um processo correto entrega m, todos entregam 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2" y="254203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Nossa aproximação: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290779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907792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Msg que chega ao broker com
PERSISTENT → nunca some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1072" y="338328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3383280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ACK manual → broker guarda
até worker confirmar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385876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3858768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Worker ativo vai processar
eventualmente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1072" y="4572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O que ainda falta para RB formal: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491947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39C12"/>
                </a:solidFill>
                <a:latin typeface="Calibri"/>
              </a:rPr>
              <a:t>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919472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Publisher confirms (sem eles = BEB)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91072" y="530352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39C12"/>
                </a:solidFill>
                <a:latin typeface="Calibri"/>
              </a:rPr>
              <a:t>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5303520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Se producer cai antes de publicar,
não há como recuperar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CONFIABILIDADE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Uniform Reliable 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O nível mais alto — e como chegamos perto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11430000" cy="1143000"/>
          </a:xfrm>
          <a:prstGeom prst="rect">
            <a:avLst/>
          </a:prstGeom>
          <a:solidFill>
            <a:srgbClr val="201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361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9B6"/>
                </a:solidFill>
                <a:latin typeface="Calibri"/>
              </a:rPr>
              <a:t>Definição de URB: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Se qualquer processo (correto OU com falha) entrega m → TODOS os processos entregam m. Requer consenso.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43200"/>
            <a:ext cx="5349240" cy="3657600"/>
          </a:xfrm>
          <a:prstGeom prst="rect">
            <a:avLst/>
          </a:prstGeom>
          <a:solidFill>
            <a:srgbClr val="2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807208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✗  RabbitMQ não garante URB nativo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27355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Cenário problemático: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630168"/>
            <a:ext cx="5074920" cy="182880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721608"/>
            <a:ext cx="485546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Worker A: recebe msg → processa parcialmente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           → salva metade no banco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           → FALHA antes do ACK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 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Worker B: recebe a mesma msg de novo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           → estado parcial do Worker A já existe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           → sem consenso sobre quem entregou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2743200"/>
            <a:ext cx="5715000" cy="3657600"/>
          </a:xfrm>
          <a:prstGeom prst="rect">
            <a:avLst/>
          </a:prstGeom>
          <a:solidFill>
            <a:srgbClr val="082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9632" y="280720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✓  Nossa solução: idempotência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327355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  <a:latin typeface="Calibri"/>
              </a:rPr>
              <a:t>Verificamos o estado antes de processar: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3630168"/>
            <a:ext cx="5394960" cy="132588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3721608"/>
            <a:ext cx="517550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# notification-worker/worker.py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if order.status == 'confirmed':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    return  # já processado, ignora duplicata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 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# Garante: efeito visível = exactly-once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# mesmo com at-least-once na fila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2" y="502920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  <a:latin typeface="Calibri"/>
              </a:rPr>
              <a:t>Resultado: exactly-once semântico para o usuário.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739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888888"/>
                </a:solidFill>
                <a:latin typeface="Calibri"/>
              </a:rPr>
              <a:t>Quorum Queues (RabbitMQ 3.8+ com Raft) aproximam o URB nativamente — próximo passo real.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CONFIABILIDADE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Comparativo — os 5 Modelos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De Fair-Loss até URB — onde o RabbitMQ se encaixa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508760"/>
            <a:ext cx="2743200" cy="41148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5087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Modelo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81528" y="1508760"/>
            <a:ext cx="1554480" cy="41148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1528" y="150876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Perde msg?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54296" y="1508760"/>
            <a:ext cx="1554480" cy="41148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150876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Duplicatas?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1508760"/>
            <a:ext cx="1737360" cy="41148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5087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Crash producer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82711" y="1508760"/>
            <a:ext cx="4206240" cy="41148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1" y="15087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No projeto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1938528"/>
            <a:ext cx="274320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011680"/>
            <a:ext cx="2633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888888"/>
                </a:solidFill>
                <a:latin typeface="Calibri"/>
              </a:rPr>
              <a:t>Fair-Loss Link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81528" y="1938528"/>
            <a:ext cx="155448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54680" y="201168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Sim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54296" y="1938528"/>
            <a:ext cx="155448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7448" y="201168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Não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27064" y="1938528"/>
            <a:ext cx="173736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0216" y="2011680"/>
            <a:ext cx="16276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82711" y="1938528"/>
            <a:ext cx="420624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55863" y="2011680"/>
            <a:ext cx="409651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Sem persistência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596896"/>
            <a:ext cx="27432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" y="2670048"/>
            <a:ext cx="2633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2ECC71"/>
                </a:solidFill>
                <a:latin typeface="Calibri"/>
              </a:rPr>
              <a:t>Perfect Link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81528" y="2596896"/>
            <a:ext cx="155448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54680" y="2670048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Não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54296" y="2596896"/>
            <a:ext cx="155448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27448" y="2670048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Possível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27064" y="2596896"/>
            <a:ext cx="173736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2670048"/>
            <a:ext cx="16276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Perde msgs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82711" y="2596896"/>
            <a:ext cx="420624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55863" y="2670048"/>
            <a:ext cx="409651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PERSISTENT + ACK + durable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3255264"/>
            <a:ext cx="274320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" y="3328416"/>
            <a:ext cx="2633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39C12"/>
                </a:solidFill>
                <a:latin typeface="Calibri"/>
              </a:rPr>
              <a:t>BEB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81528" y="3255264"/>
            <a:ext cx="155448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54680" y="3328416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Possível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54296" y="3255264"/>
            <a:ext cx="155448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27448" y="3328416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Não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27064" y="3255264"/>
            <a:ext cx="173736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0216" y="3328416"/>
            <a:ext cx="16276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Perde msgs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82711" y="3255264"/>
            <a:ext cx="420624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55863" y="3328416"/>
            <a:ext cx="409651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POST /batch (sem confirms)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3913632"/>
            <a:ext cx="27432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3986784"/>
            <a:ext cx="2633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6600"/>
                </a:solidFill>
                <a:latin typeface="Calibri"/>
              </a:rPr>
              <a:t>Reliable Broadcast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81528" y="3913632"/>
            <a:ext cx="155448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54680" y="3986784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Não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54296" y="3913632"/>
            <a:ext cx="155448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27448" y="3986784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Possível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27064" y="3913632"/>
            <a:ext cx="173736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0216" y="3986784"/>
            <a:ext cx="16276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Perde msgs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82711" y="3913632"/>
            <a:ext cx="420624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55863" y="3986784"/>
            <a:ext cx="409651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Aprox. com persistência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4572000"/>
            <a:ext cx="274320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3192" y="4645152"/>
            <a:ext cx="2633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74C3C"/>
                </a:solidFill>
                <a:latin typeface="Calibri"/>
              </a:rPr>
              <a:t>Uniform RB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81528" y="4572000"/>
            <a:ext cx="155448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54680" y="4645152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Não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654296" y="4572000"/>
            <a:ext cx="155448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27448" y="4645152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Não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27064" y="4572000"/>
            <a:ext cx="173736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0216" y="4645152"/>
            <a:ext cx="16276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Nenhuma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82711" y="4572000"/>
            <a:ext cx="420624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55863" y="4645152"/>
            <a:ext cx="409651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Não nativo (idempotência)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" y="493776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FF6600"/>
                </a:solidFill>
                <a:latin typeface="Calibri"/>
              </a:rPr>
              <a:t>Linha destacada em laranja = nossa implementação principal.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ORDENAÇÃO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Ordenação — FIFO com 1 Consumer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A fila garante a ordem. Um consumidor respeitá-la.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600"/>
                </a:solidFill>
                <a:latin typeface="Calibri"/>
              </a:rPr>
              <a:t>Fila (payment-queue)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1298448" cy="65836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938528"/>
            <a:ext cx="12984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600"/>
                </a:solidFill>
                <a:latin typeface="Calibri"/>
              </a:rPr>
              <a:t>msg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01952" y="1938528"/>
            <a:ext cx="1298448" cy="65836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01952" y="1938528"/>
            <a:ext cx="12984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600"/>
                </a:solidFill>
                <a:latin typeface="Calibri"/>
              </a:rPr>
              <a:t>msg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6704" y="1938528"/>
            <a:ext cx="1298448" cy="65836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6704" y="1938528"/>
            <a:ext cx="12984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600"/>
                </a:solidFill>
                <a:latin typeface="Calibri"/>
              </a:rPr>
              <a:t>msg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91456" y="1938528"/>
            <a:ext cx="1298448" cy="65836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1938528"/>
            <a:ext cx="12984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600"/>
                </a:solidFill>
                <a:latin typeface="Calibri"/>
              </a:rPr>
              <a:t>msg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6208" y="1938528"/>
            <a:ext cx="1298448" cy="65836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8" y="1938528"/>
            <a:ext cx="12984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600"/>
                </a:solidFill>
                <a:latin typeface="Calibri"/>
              </a:rPr>
              <a:t>msg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2084831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1874519"/>
            <a:ext cx="1828800" cy="777240"/>
          </a:xfrm>
          <a:prstGeom prst="rect">
            <a:avLst/>
          </a:prstGeom>
          <a:solidFill>
            <a:srgbClr val="053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874519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CC71"/>
                </a:solidFill>
                <a:latin typeface="Calibri"/>
              </a:rPr>
              <a:t>Worker
(1 consumer)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2084831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CC71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69880" y="1874519"/>
            <a:ext cx="1508760" cy="7772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69880" y="1874519"/>
            <a:ext cx="1508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Calibri"/>
              </a:rPr>
              <a:t>Processa
em ordem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27889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ECC71"/>
                </a:solidFill>
                <a:latin typeface="Calibri"/>
              </a:rPr>
              <a:t>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06324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CC71"/>
                </a:solidFill>
                <a:latin typeface="Calibri"/>
              </a:rPr>
              <a:t>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27889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ECC71"/>
                </a:solidFill>
                <a:latin typeface="Calibri"/>
              </a:rPr>
              <a:t>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42032" y="306324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CC71"/>
                </a:solidFill>
                <a:latin typeface="Calibri"/>
              </a:rPr>
              <a:t>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30752" y="27889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ECC71"/>
                </a:solidFill>
                <a:latin typeface="Calibri"/>
              </a:rPr>
              <a:t>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6784" y="306324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CC71"/>
                </a:solidFill>
                <a:latin typeface="Calibri"/>
              </a:rPr>
              <a:t>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75504" y="27889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ECC71"/>
                </a:solidFill>
                <a:latin typeface="Calibri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31536" y="306324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CC71"/>
                </a:solidFill>
                <a:latin typeface="Calibri"/>
              </a:rPr>
              <a:t>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0256" y="27889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ECC71"/>
                </a:solidFill>
                <a:latin typeface="Calibri"/>
              </a:rPr>
              <a:t>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76288" y="306324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CC71"/>
                </a:solidFill>
                <a:latin typeface="Calibri"/>
              </a:rPr>
              <a:t>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520440"/>
            <a:ext cx="11430000" cy="1188720"/>
          </a:xfrm>
          <a:prstGeom prst="rect">
            <a:avLst/>
          </a:prstGeom>
          <a:solidFill>
            <a:srgbClr val="082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5935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Propriedade FIFO garantida pelo RabbitMQ: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9502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A especificação AMQP 0-9-1 define que mensagens publicadas com a mesma routing key e priority
chegam à fila na ordem em que foram publicadas — e são entregues nessa ordem a um único consumer.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8006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Mas: com N consumers em paralelo, a ordem global de processamento NÃO é garantida. (Slide 19)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257800"/>
            <a:ext cx="11430000" cy="12344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3192" y="5285232"/>
            <a:ext cx="11375136" cy="117957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534924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GIF OPCIONAL — SUBSTITUIR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5669279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Animação de fila FIFO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126480"/>
            <a:ext cx="11155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Buscar: 'queue FIFO animation gif' ou 'message queue gif'.
Visualfsm.js e CloudAMQP têm animações boas.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ORDENAÇÃO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Ordenação — N Consumers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Paralelo quebra a ordem global. Como resolver.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600"/>
                </a:solidFill>
                <a:latin typeface="Calibri"/>
              </a:rPr>
              <a:t>Fila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01952"/>
            <a:ext cx="1188720" cy="56692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901952"/>
            <a:ext cx="1188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msg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1188720" cy="56692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560320"/>
            <a:ext cx="1188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msg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88720" cy="56692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218688"/>
            <a:ext cx="1188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msg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77056"/>
            <a:ext cx="1188720" cy="56692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877056"/>
            <a:ext cx="1188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msg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816352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1645920"/>
            <a:ext cx="2011680" cy="731520"/>
          </a:xfrm>
          <a:prstGeom prst="rect">
            <a:avLst/>
          </a:prstGeom>
          <a:solidFill>
            <a:srgbClr val="05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16459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980B9"/>
                </a:solidFill>
                <a:latin typeface="Calibri"/>
              </a:rPr>
              <a:t>Worker A
(lento)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31720" y="2468880"/>
            <a:ext cx="2011680" cy="731520"/>
          </a:xfrm>
          <a:prstGeom prst="rect">
            <a:avLst/>
          </a:prstGeom>
          <a:solidFill>
            <a:srgbClr val="05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31720" y="24688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980B9"/>
                </a:solidFill>
                <a:latin typeface="Calibri"/>
              </a:rPr>
              <a:t>msg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1645920"/>
            <a:ext cx="2011680" cy="731520"/>
          </a:xfrm>
          <a:prstGeom prst="rect">
            <a:avLst/>
          </a:prstGeom>
          <a:solidFill>
            <a:srgbClr val="053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16459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CC71"/>
                </a:solidFill>
                <a:latin typeface="Calibri"/>
              </a:rPr>
              <a:t>Worker B
(rápido)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2468880"/>
            <a:ext cx="2011680" cy="731520"/>
          </a:xfrm>
          <a:prstGeom prst="rect">
            <a:avLst/>
          </a:prstGeom>
          <a:solidFill>
            <a:srgbClr val="053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0" y="24688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ECC71"/>
                </a:solidFill>
                <a:latin typeface="Calibri"/>
              </a:rPr>
              <a:t>msg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15087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Resultado: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1901952"/>
            <a:ext cx="5029200" cy="1371600"/>
          </a:xfrm>
          <a:prstGeom prst="rect">
            <a:avLst/>
          </a:prstGeom>
          <a:solidFill>
            <a:srgbClr val="3020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1965960"/>
            <a:ext cx="4800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Worker B termina primeiro: msg 2 confirmada antes de msg 1.
Ordem de chegada: 1,2,3,4
Ordem de processamento: 2,4,1,3
→ Ordem global quebrada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429000"/>
            <a:ext cx="6858000" cy="841248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3520440"/>
            <a:ext cx="66385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make scale-workers N=5 &amp;&amp; make send-100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make db-query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# processed_at NÃO respeita created_at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407408"/>
            <a:ext cx="11430000" cy="2084831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4805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600"/>
                </a:solidFill>
                <a:latin typeface="Calibri"/>
              </a:rPr>
              <a:t>Como garantir ordem total — se necessário: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89204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39C12"/>
                </a:solidFill>
                <a:latin typeface="Calibri"/>
              </a:rPr>
              <a:t>▸ Particionamento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2578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1 worker por event_id (como Kafka faz com partition keys). Simples e eficaz.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25112" y="489204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39C12"/>
                </a:solidFill>
                <a:latin typeface="Calibri"/>
              </a:rPr>
              <a:t>▸ Sequencer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25112" y="52578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Nó central atribui número de sequência antes de publicar. Gargalo, mas garante ordem.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47304" y="489204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39C12"/>
                </a:solidFill>
                <a:latin typeface="Calibri"/>
              </a:rPr>
              <a:t>▸ Kafka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47304" y="52578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Nativo: cada partição é uma fila FIFO. Workers de uma partição respeitam a ordem.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IMPLEMENTAÇÃO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Implementação: Persistência + 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Como o RabbitMQ garante que mensagens não somem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594360" cy="7498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08760"/>
            <a:ext cx="5943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  <a:latin typeface="Calibri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1508760"/>
            <a:ext cx="1828800" cy="74980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08760"/>
            <a:ext cx="1828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Publisher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360" y="1508760"/>
            <a:ext cx="2743200" cy="74980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60020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600"/>
                </a:solidFill>
                <a:latin typeface="Calibri"/>
              </a:rPr>
              <a:t>publish(PERSISTENT)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1673351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Grava em disco antes de retornar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04872"/>
            <a:ext cx="594360" cy="749808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943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  <a:latin typeface="Calibri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2404872"/>
            <a:ext cx="1828800" cy="74980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2404872"/>
            <a:ext cx="1828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2404872"/>
            <a:ext cx="2743200" cy="74980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2496312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CCCC"/>
                </a:solidFill>
                <a:latin typeface="Calibri"/>
              </a:rPr>
              <a:t>mnesia / msg 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25694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Arquivo em /var/lib/rabbitmq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300984"/>
            <a:ext cx="594360" cy="749808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300984"/>
            <a:ext cx="5943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3300984"/>
            <a:ext cx="1828800" cy="74980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300984"/>
            <a:ext cx="1828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Consumer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3300984"/>
            <a:ext cx="2743200" cy="74980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3392424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processa()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346557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Lógica de negócio + commit no banco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197096"/>
            <a:ext cx="594360" cy="749808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197096"/>
            <a:ext cx="5943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  <a:latin typeface="Calibri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4197096"/>
            <a:ext cx="1828800" cy="74980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197096"/>
            <a:ext cx="1828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0360" y="4197096"/>
            <a:ext cx="2743200" cy="74980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71800" y="4288536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channel.ack()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000" y="436168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Broker remove da fila (disco)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093208"/>
            <a:ext cx="594360" cy="749808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093208"/>
            <a:ext cx="5943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  <a:latin typeface="Calibri"/>
              </a:rPr>
              <a:t>!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840" y="5093208"/>
            <a:ext cx="1828800" cy="74980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093208"/>
            <a:ext cx="1828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Sem ACK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80360" y="5093208"/>
            <a:ext cx="2743200" cy="74980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71800" y="5184648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crash antes do 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000" y="52578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Msg volta para ready → at-least-once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3018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6190488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At-least-once: se o worker processa e cai ANTES do ACK, recebe a mesma mensagem novamente. Necessário: idempotência no processamento.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IMPLEMENTAÇÃO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Implementação: Anti-Overbooking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SELECT FOR UPDATE previne a venda dupla do mesmo ingresso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4C3C"/>
                </a:solidFill>
                <a:latin typeface="Calibri"/>
              </a:rPr>
              <a:t>Sem controle — o que pode acontecer: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01952"/>
            <a:ext cx="7498079" cy="1481328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93392"/>
            <a:ext cx="7278623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2ECC71"/>
                </a:solidFill>
                <a:latin typeface="Courier New"/>
              </a:rPr>
              <a:t>Worker A lê: available_tickets = 1  →  reserva</a:t>
            </a:r>
          </a:p>
          <a:p>
            <a:pPr algn="l"/>
            <a:r>
              <a:rPr sz="1250">
                <a:solidFill>
                  <a:srgbClr val="2ECC71"/>
                </a:solidFill>
                <a:latin typeface="Courier New"/>
              </a:rPr>
              <a:t>Worker B lê: available_tickets = 1  →  reserva (ao mesmo tempo!)</a:t>
            </a:r>
          </a:p>
          <a:p>
            <a:pPr algn="l"/>
            <a:r>
              <a:rPr sz="1250">
                <a:solidFill>
                  <a:srgbClr val="2ECC71"/>
                </a:solidFill>
                <a:latin typeface="Courier New"/>
              </a:rPr>
              <a:t> </a:t>
            </a:r>
          </a:p>
          <a:p>
            <a:pPr algn="l"/>
            <a:r>
              <a:rPr sz="1250">
                <a:solidFill>
                  <a:srgbClr val="2ECC71"/>
                </a:solidFill>
                <a:latin typeface="Courier New"/>
              </a:rPr>
              <a:t>Resultado: 2 vendas, 0 ingressos → OVERBOOKING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478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  <a:latin typeface="Calibri"/>
              </a:rPr>
              <a:t>Com SELECT FOR UPDATE — nossa solução: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950208"/>
            <a:ext cx="7498079" cy="2212848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041648"/>
            <a:ext cx="7278623" cy="2029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-- stock-worker/src/database.py → reserve_tickets()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BEGIN;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  SELECT * FROM events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  WHERE id = $1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  FOR UPDATE;        -- bloqueia outros workers aqui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  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  UPDATE events SET available_tickets -= $qty;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  UPDATE orders SET status = 'stock_reserved';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COMMIT;            -- lock liberado, próximo worker entra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3493008"/>
            <a:ext cx="3749039" cy="27432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3566160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O que acontece: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95020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3950208"/>
            <a:ext cx="3227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Worker B tenta e bloqueia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425696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  <a:latin typeface="Calibr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4425696"/>
            <a:ext cx="3227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Aguarda Worker A commitar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901183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  <a:latin typeface="Calibr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4901183"/>
            <a:ext cx="3227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Se estoque zerou:
recebe out_of_stock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5376671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  <a:latin typeface="Calibri"/>
              </a:rPr>
              <a:t>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8" y="5376671"/>
            <a:ext cx="3227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Sem overbooking possível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FF6600"/>
                </a:solidFill>
                <a:latin typeface="Calibri"/>
              </a:rPr>
              <a:t>Demonstração Prática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TicketLab — Sistema de Venda de Ingressos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  <a:latin typeface="Calibri"/>
              </a:rPr>
              <a:t>Materializa todos os conceitos vistos — RabbitMQ não é infraestrutura oculta, é o protagonista.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11680"/>
            <a:ext cx="1691640" cy="86868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011680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Frontend
(React)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77440" y="2011680"/>
            <a:ext cx="1691640" cy="86868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2011680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Producer
(FastAPI)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11680"/>
            <a:ext cx="1691640" cy="86868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011680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RabbitMQ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011680"/>
            <a:ext cx="16916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payment
worker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011680"/>
            <a:ext cx="16916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011680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stock
worker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424160" y="2011680"/>
            <a:ext cx="16916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2011680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notification
worker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39112" y="224028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0791" y="224028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62472" y="224028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224028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85832" y="224028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63240"/>
            <a:ext cx="2057400" cy="43891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0632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2E"/>
                </a:solidFill>
                <a:latin typeface="Calibri"/>
              </a:rPr>
              <a:t>pending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32888" y="31821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88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24912" y="3063240"/>
            <a:ext cx="2057400" cy="438912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24912" y="30632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2E"/>
                </a:solidFill>
                <a:latin typeface="Calibri"/>
              </a:rPr>
              <a:t>processing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31821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88"/>
                </a:solidFill>
                <a:latin typeface="Calibr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92624" y="3063240"/>
            <a:ext cx="2057400" cy="438912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92624" y="30632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2E"/>
                </a:solidFill>
                <a:latin typeface="Calibri"/>
              </a:rPr>
              <a:t>payment_approved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68312" y="31821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88"/>
                </a:solidFill>
                <a:latin typeface="Calibri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60336" y="3063240"/>
            <a:ext cx="2057400" cy="438912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0336" y="30632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2E"/>
                </a:solidFill>
                <a:latin typeface="Calibri"/>
              </a:rPr>
              <a:t>stock_reserved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36024" y="31821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88"/>
                </a:solidFill>
                <a:latin typeface="Calibri"/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28048" y="3063240"/>
            <a:ext cx="2057400" cy="43891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28048" y="30632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2E"/>
                </a:solidFill>
                <a:latin typeface="Calibri"/>
              </a:rPr>
              <a:t>confirmed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67588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600"/>
                </a:solidFill>
                <a:latin typeface="Calibri"/>
              </a:rPr>
              <a:t>Conceitos demonstrados: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06908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4069080"/>
            <a:ext cx="10954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Perfect Links → filas durable + PERSISTENT + ACK manual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45312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" y="4453128"/>
            <a:ext cx="10954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Crash-stop → make kill-payment — sem perda de mensagens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837176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837176"/>
            <a:ext cx="10954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Race condition → SELECT FOR UPDATE — zero overbooking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221224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" y="5221224"/>
            <a:ext cx="10954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DLQ → make send-failures (30% falha) → make inspect-dlq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60527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" y="5605272"/>
            <a:ext cx="10954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Escalabilidade → make scale-workers N=5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5961888"/>
            <a:ext cx="11247120" cy="80467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84632" y="5989320"/>
            <a:ext cx="11192256" cy="749808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6053327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6300215"/>
            <a:ext cx="10972800" cy="321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Frontend TicketLab — tela principal com eventos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Demo: Saga Coreografada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Um pedido passa por 4 etapas — cada uma é um worker independente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63040"/>
            <a:ext cx="5760720" cy="23591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63040"/>
            <a:ext cx="502920" cy="235915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1536192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600"/>
                </a:solidFill>
                <a:latin typeface="Calibri"/>
              </a:rPr>
              <a:t>1. Compra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196596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Formulário preenchido → POST /orders
API retorna { status: 'pending' } imediato.
Publica em ticket-sales (routing_key='payment').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19" y="2971800"/>
            <a:ext cx="4892040" cy="7498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1" y="2999232"/>
            <a:ext cx="4837176" cy="694944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79" y="3063240"/>
            <a:ext cx="4617720" cy="187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79" y="3296412"/>
            <a:ext cx="4617720" cy="29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SCREENSHOT: tela de compra preenchida — localhost:3000/buy
Capturar com o formulário preenchido antes de clicar.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36792" y="1463040"/>
            <a:ext cx="5760720" cy="23591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36792" y="1463040"/>
            <a:ext cx="502920" cy="2359152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6872" y="1536192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2. Pagamento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6872" y="196596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payment-worker consome payment-queue.
Valida → publica em payment-approved.
Status: 'processing'.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76872" y="2971800"/>
            <a:ext cx="4892040" cy="7498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04304" y="2999232"/>
            <a:ext cx="4837176" cy="694944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14032" y="3063240"/>
            <a:ext cx="4617720" cy="187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14032" y="3296412"/>
            <a:ext cx="4617720" cy="29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SCREENSHOT: painel Orders mostrando status 'processing'
localhost:3000/orders — filtrar por status.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005072"/>
            <a:ext cx="5760720" cy="23591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4005072"/>
            <a:ext cx="502920" cy="235915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19" y="407822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  <a:latin typeface="Calibri"/>
              </a:rPr>
              <a:t>3. Estoque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19" y="4507992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stock-worker consome stock-queue.
SELECT FOR UPDATE → reserva ingresso.
Status: 'stock_reserved'.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19" y="5513831"/>
            <a:ext cx="4892040" cy="7498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7551" y="5541264"/>
            <a:ext cx="4837176" cy="694944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79" y="5605271"/>
            <a:ext cx="4617720" cy="187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79" y="5838443"/>
            <a:ext cx="4617720" cy="29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(capturar em sequência, mesmo vídeo se possível)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36792" y="4005072"/>
            <a:ext cx="5760720" cy="23591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36792" y="4005072"/>
            <a:ext cx="502920" cy="2359152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76872" y="407822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980B9"/>
                </a:solidFill>
                <a:latin typeface="Calibri"/>
              </a:rPr>
              <a:t>4. Confirmação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76872" y="4507992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notification-worker gera ticket_code UUID.
Verifica idempotência → status: 'confirmed'.
Ingresso na mão do comprador.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76872" y="5513831"/>
            <a:ext cx="4892040" cy="7498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04304" y="5541264"/>
            <a:ext cx="4837176" cy="694944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14032" y="5605271"/>
            <a:ext cx="4617720" cy="187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14032" y="5838443"/>
            <a:ext cx="4617720" cy="29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SCREENSHOT: pedido com status 'confirmed' e ticket_code
localhost:3000/orders → detalhe do pedido.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Demo: Falhas na Prática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Três cenários — o sistema é resiliente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63040"/>
            <a:ext cx="3840480" cy="50292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3840480" cy="475488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517904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Dead Letter Queue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1993392"/>
            <a:ext cx="3611880" cy="137160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2084832"/>
            <a:ext cx="33924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make send-failures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→ 30% de pedidos com simulate_failure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→ 3 retries → NACK → DLQ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3429000"/>
            <a:ext cx="3611880" cy="502920"/>
          </a:xfrm>
          <a:prstGeom prst="rect">
            <a:avLst/>
          </a:prstGeom>
          <a:solidFill>
            <a:srgbClr val="082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474720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make inspect-dlq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4005072"/>
            <a:ext cx="3611880" cy="23774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79" y="4032504"/>
            <a:ext cx="3557016" cy="232257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7" y="4096511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7" y="4416551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SCREENSHOT: RabbitMQ UI
Queues → dead-letter-queue
N mensagens acumuladas
localhost:15672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1463040"/>
            <a:ext cx="3840480" cy="50292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1463040"/>
            <a:ext cx="3840480" cy="47548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07408" y="1517904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Crash-stop Worker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7408" y="1993392"/>
            <a:ext cx="3611880" cy="137160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7136" y="2084832"/>
            <a:ext cx="33924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make send-1000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make kill-payment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make logs-payment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07408" y="3429000"/>
            <a:ext cx="3611880" cy="502920"/>
          </a:xfrm>
          <a:prstGeom prst="rect">
            <a:avLst/>
          </a:prstGeom>
          <a:solidFill>
            <a:srgbClr val="082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98848" y="3474720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→ outro worker assume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07408" y="4005072"/>
            <a:ext cx="3611880" cy="23774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4032504"/>
            <a:ext cx="3557016" cy="232257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44568" y="4096511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4416551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SCREENSHOT / GIF: Grafana
consumer count caindo de 2→1
e fila sendo drenada
localhost:3001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1463040"/>
            <a:ext cx="3840480" cy="50292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40" y="1463040"/>
            <a:ext cx="3840480" cy="475488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1517904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Crash-recovery Broker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30768" y="1993392"/>
            <a:ext cx="3611880" cy="137160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0496" y="2084832"/>
            <a:ext cx="33924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make restart-rabbit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→ msgs PERSISTENT no disco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→ workers reconectam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30768" y="3429000"/>
            <a:ext cx="3611880" cy="502920"/>
          </a:xfrm>
          <a:prstGeom prst="rect">
            <a:avLst/>
          </a:prstGeom>
          <a:solidFill>
            <a:srgbClr val="082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22208" y="3474720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connect_robust (backoff)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0768" y="4005072"/>
            <a:ext cx="3611880" cy="23774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58200" y="4032504"/>
            <a:ext cx="3557016" cy="232257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67928" y="4096511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67928" y="4416551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SCREENSHOT: RabbitMQ UI
após restart — filas intactas
localhost:15672 → Queues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O que aprendemos sobre o RabbitMQ em Sistemas Distribuídos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4114800" cy="3840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50876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Questão do Professor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53712" y="1508760"/>
            <a:ext cx="7406640" cy="3840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508760"/>
            <a:ext cx="7406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Resposta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911095"/>
            <a:ext cx="4114800" cy="49377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1965960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6600"/>
                </a:solidFill>
                <a:latin typeface="Calibri"/>
              </a:rPr>
              <a:t>Onde é usado?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53712" y="1911095"/>
            <a:ext cx="7406640" cy="49377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965960"/>
            <a:ext cx="722375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E-commerce, IoT, bancos, microserviços — desacoplamento temporal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423160"/>
            <a:ext cx="4114800" cy="493776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79" y="2478024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6600"/>
                </a:solidFill>
                <a:latin typeface="Calibri"/>
              </a:rPr>
              <a:t>Funcionalidades?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53712" y="2423160"/>
            <a:ext cx="7406640" cy="493776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2478024"/>
            <a:ext cx="722375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Exchanges, durable queues, PERSISTENT, ACK, DLX, QoS, plugins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935224"/>
            <a:ext cx="4114800" cy="49377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2990088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6600"/>
                </a:solidFill>
                <a:latin typeface="Calibri"/>
              </a:rPr>
              <a:t>Falhas suportadas?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53712" y="2935224"/>
            <a:ext cx="7406640" cy="49377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5152" y="2990088"/>
            <a:ext cx="722375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Crash-stop, crash-recovery, retry+DLQ. Não suporta Byzantine.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447288"/>
            <a:ext cx="4114800" cy="493776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79" y="3502152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6600"/>
                </a:solidFill>
                <a:latin typeface="Calibri"/>
              </a:rPr>
              <a:t>Confiabilidade?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53712" y="3447288"/>
            <a:ext cx="7406640" cy="493776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2" y="3502152"/>
            <a:ext cx="722375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Perfect Links (at-least-once) + aprox. Reliable Broadcast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959352"/>
            <a:ext cx="4114800" cy="49377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79" y="4014215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6600"/>
                </a:solidFill>
                <a:latin typeface="Calibri"/>
              </a:rPr>
              <a:t>Ordenação?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53712" y="3959352"/>
            <a:ext cx="7406640" cy="49377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5152" y="4014215"/>
            <a:ext cx="722375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FIFO com 1 consumer. N consumers → requer particionamento.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471416"/>
            <a:ext cx="4114800" cy="493776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79" y="4526280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6600"/>
                </a:solidFill>
                <a:latin typeface="Calibri"/>
              </a:rPr>
              <a:t>Implementação?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53712" y="4471416"/>
            <a:ext cx="7406640" cy="493776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45152" y="4526280"/>
            <a:ext cx="722375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AMQP 0-9-1, Erlang/Mnesia, protocolo ACK, SELECT FOR UPDATE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470916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Próximos passos para produção: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507492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7" y="5074920"/>
            <a:ext cx="111373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Publisher confirms → Reliable Broadcast formal (saindo do BEB)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544068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7" y="5440680"/>
            <a:ext cx="111373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Outbox Pattern → zero perda durante partição producer↔broker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580644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7" y="5806440"/>
            <a:ext cx="111373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Quorum Queues (Raft) → aproximação de URB nativa no RabbitMQ 3.8+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617220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7" y="6172200"/>
            <a:ext cx="111373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Kafka + partition keys → ordem total por evento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600"/>
                </a:solidFill>
                <a:latin typeface="Calibri"/>
              </a:rPr>
              <a:t>Obrigado. Ficamos à disposição para perguntas.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