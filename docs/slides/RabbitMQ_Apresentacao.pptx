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1C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310896" cy="310896"/>
          </a:xfrm>
          <a:prstGeom prst="rect">
            <a:avLst/>
          </a:prstGeom>
          <a:solidFill>
            <a:srgbClr val="E8541E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0704" y="1371600"/>
            <a:ext cx="310896" cy="310896"/>
          </a:xfrm>
          <a:prstGeom prst="rect">
            <a:avLst/>
          </a:prstGeom>
          <a:solidFill>
            <a:srgbClr val="E8541E">
              <a:alpha val="7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1371600"/>
            <a:ext cx="310896" cy="310896"/>
          </a:xfrm>
          <a:prstGeom prst="rect">
            <a:avLst/>
          </a:prstGeom>
          <a:solidFill>
            <a:srgbClr val="E8541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01952" y="1371600"/>
            <a:ext cx="310896" cy="310896"/>
          </a:xfrm>
          <a:prstGeom prst="rect">
            <a:avLst/>
          </a:prstGeom>
          <a:solidFill>
            <a:srgbClr val="E8541E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22576" y="1371600"/>
            <a:ext cx="310896" cy="310896"/>
          </a:xfrm>
          <a:prstGeom prst="rect">
            <a:avLst/>
          </a:prstGeom>
          <a:solidFill>
            <a:srgbClr val="E8541E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371600"/>
            <a:ext cx="310896" cy="310896"/>
          </a:xfrm>
          <a:prstGeom prst="rect">
            <a:avLst/>
          </a:prstGeom>
          <a:solidFill>
            <a:srgbClr val="E8541E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63824" y="1371600"/>
            <a:ext cx="310896" cy="310896"/>
          </a:xfrm>
          <a:prstGeom prst="rect">
            <a:avLst/>
          </a:prstGeom>
          <a:solidFill>
            <a:srgbClr val="E8541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2542032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50" b="1" i="0" spc="160">
                <a:solidFill>
                  <a:srgbClr val="E8541E"/>
                </a:solidFill>
                <a:latin typeface="Calibri"/>
              </a:rPr>
              <a:t>ESCOLA POLITÉCNICA · PUCRS · SISTEMAS DISTRIBUÍDOS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283464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Century Schoolbook"/>
              </a:rPr>
              <a:t>RabbitMQ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913632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1">
                <a:solidFill>
                  <a:srgbClr val="C9CDD4"/>
                </a:solidFill>
                <a:latin typeface="Calibri"/>
              </a:rPr>
              <a:t>Mensageria com AMQP: arquitetura, garantias de entrega e ordenação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45920" y="4590288"/>
            <a:ext cx="6217920" cy="0"/>
          </a:xfrm>
          <a:prstGeom prst="line">
            <a:avLst/>
          </a:prstGeom>
          <a:ln w="9525">
            <a:solidFill>
              <a:srgbClr val="3A3A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45920" y="4700016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Arthur Real Sanchotene Ferreira · Caroline da Rocha de Lima · Giovani da Silva Cancherini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992624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0" i="0">
                <a:solidFill>
                  <a:srgbClr val="9AA0AA"/>
                </a:solidFill>
                <a:latin typeface="Calibri"/>
              </a:rPr>
              <a:t>Leonardo Vargas Schilling · Osmar Sadi Nether Filho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358384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1">
                <a:solidFill>
                  <a:srgbClr val="9AA0AA"/>
                </a:solidFill>
                <a:latin typeface="Calibri"/>
              </a:rPr>
              <a:t>Prof. Fernando Dotti · Porto Alegre,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Sete questões guiam nossa apresentação, da motivação até a demonstração prática.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512064" cy="50749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entury Schoolbook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61872" y="2103120"/>
            <a:ext cx="10287000" cy="50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103120"/>
            <a:ext cx="9829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50" b="1" i="0">
                <a:solidFill>
                  <a:srgbClr val="1C1B22"/>
                </a:solidFill>
                <a:latin typeface="Calibri"/>
              </a:rPr>
              <a:t>O que é o RabbitMQ e por que existe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02052"/>
            <a:ext cx="512064" cy="50749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02052"/>
            <a:ext cx="512064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entury Schoolbook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61872" y="2702052"/>
            <a:ext cx="10287000" cy="50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702052"/>
            <a:ext cx="9829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50" b="1" i="0">
                <a:solidFill>
                  <a:srgbClr val="1C1B22"/>
                </a:solidFill>
                <a:latin typeface="Calibri"/>
              </a:rPr>
              <a:t>Arquitetura e Funcionalidades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00984"/>
            <a:ext cx="512064" cy="50749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00984"/>
            <a:ext cx="512064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entury Schoolbook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61872" y="3300984"/>
            <a:ext cx="10287000" cy="50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3300984"/>
            <a:ext cx="9829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50" b="1" i="0">
                <a:solidFill>
                  <a:srgbClr val="1C1B22"/>
                </a:solidFill>
                <a:latin typeface="Calibri"/>
              </a:rPr>
              <a:t>Tipos de Falhas Suportadas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99916"/>
            <a:ext cx="512064" cy="50749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99916"/>
            <a:ext cx="512064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entury Schoolbook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61872" y="3899916"/>
            <a:ext cx="10287000" cy="50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3899916"/>
            <a:ext cx="9829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50" b="1" i="0">
                <a:solidFill>
                  <a:srgbClr val="1C1B22"/>
                </a:solidFill>
                <a:latin typeface="Calibri"/>
              </a:rPr>
              <a:t>Confiabilidade: modelos formais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98848"/>
            <a:ext cx="512064" cy="50749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98848"/>
            <a:ext cx="512064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entury Schoolbook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61872" y="4498848"/>
            <a:ext cx="10287000" cy="50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4498848"/>
            <a:ext cx="9829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50" b="1" i="0">
                <a:solidFill>
                  <a:srgbClr val="1C1B22"/>
                </a:solidFill>
                <a:latin typeface="Calibri"/>
              </a:rPr>
              <a:t>Ordenação de Mensagens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097780"/>
            <a:ext cx="512064" cy="50749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097780"/>
            <a:ext cx="512064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entury Schoolbook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1872" y="5097780"/>
            <a:ext cx="10287000" cy="50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5097780"/>
            <a:ext cx="9829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50" b="1" i="0">
                <a:solidFill>
                  <a:srgbClr val="1C1B22"/>
                </a:solidFill>
                <a:latin typeface="Calibri"/>
              </a:rPr>
              <a:t>Implementação Interna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96712"/>
            <a:ext cx="512064" cy="50749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696712"/>
            <a:ext cx="512064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entury Schoolbook"/>
              </a:rPr>
              <a:t>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61872" y="5696712"/>
            <a:ext cx="10287000" cy="50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08760" y="5696712"/>
            <a:ext cx="9829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50" b="1" i="0">
                <a:solidFill>
                  <a:srgbClr val="1C1B22"/>
                </a:solidFill>
                <a:latin typeface="Calibri"/>
              </a:rPr>
              <a:t>Demonstração Prática: TicketLab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E8541E"/>
                </a:solidFill>
                <a:latin typeface="Calibr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HTTP síncrono: uma cadeia que quebra pela parte mais fraca.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08792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</a:rPr>
              <a:t>Imagine o Lollapalooza abrindo vendas às 10h: 50.000 pessoas clicando ao mesmo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87168"/>
            <a:ext cx="5989320" cy="141732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596896"/>
            <a:ext cx="5660136" cy="11978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7A8C"/>
                </a:solidFill>
                <a:latin typeface="Courier New"/>
              </a:rPr>
              <a:t>Usuário -&gt; API -&gt; Pagamento (aguarda 3s)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7A8C"/>
                </a:solidFill>
                <a:latin typeface="Courier New"/>
              </a:rPr>
              <a:t>              -&gt; Estoque (aguarda 1s)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7A8C"/>
                </a:solidFill>
                <a:latin typeface="Courier New"/>
              </a:rPr>
              <a:t>              -&gt; Email (aguarda 2s)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7A8C"/>
                </a:solidFill>
                <a:latin typeface="Courier New"/>
              </a:rPr>
              <a:t>         &lt;- responde apos 6 segundos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5989320" cy="868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1606E"/>
                </a:solidFill>
                <a:latin typeface="Calibri"/>
              </a:rPr>
              <a:t>Se Pagamento demorar 30s: timeout. Usuário vê erro 500.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1606E"/>
                </a:solidFill>
                <a:latin typeface="Calibri"/>
              </a:rPr>
              <a:t>Se Estoque cair: toda a compra falha.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1606E"/>
                </a:solidFill>
                <a:latin typeface="Calibri"/>
              </a:rPr>
              <a:t>2 usuários simultâneos: overbooking possível.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2487168"/>
            <a:ext cx="473659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31736" y="2670048"/>
            <a:ext cx="42976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E8541E"/>
                </a:solidFill>
                <a:latin typeface="Calibri"/>
              </a:rPr>
              <a:t>O que falha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31736" y="3131820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063239"/>
            <a:ext cx="405993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50" b="0" i="0">
                <a:solidFill>
                  <a:srgbClr val="1C1B22"/>
                </a:solidFill>
                <a:latin typeface="Calibri"/>
              </a:rPr>
              <a:t>Timeout em cascata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31736" y="3497579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3428999"/>
            <a:ext cx="405993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50" b="0" i="0">
                <a:solidFill>
                  <a:srgbClr val="1C1B22"/>
                </a:solidFill>
                <a:latin typeface="Calibri"/>
              </a:rPr>
              <a:t>Falha se qualquer serviço cair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31736" y="3863339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794759"/>
            <a:ext cx="405993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50" b="0" i="0">
                <a:solidFill>
                  <a:srgbClr val="1C1B22"/>
                </a:solidFill>
                <a:latin typeface="Calibri"/>
              </a:rPr>
              <a:t>Overbooking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31736" y="4229100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160520"/>
            <a:ext cx="405993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50" b="0" i="0">
                <a:solidFill>
                  <a:srgbClr val="1C1B22"/>
                </a:solidFill>
                <a:latin typeface="Calibri"/>
              </a:rPr>
              <a:t>Thread presa até o fim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31736" y="4594860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80" y="4526280"/>
            <a:ext cx="405993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50" b="0" i="0">
                <a:solidFill>
                  <a:srgbClr val="1C1B22"/>
                </a:solidFill>
                <a:latin typeface="Calibri"/>
              </a:rPr>
              <a:t>Escalar = problema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10912"/>
            <a:ext cx="10908792" cy="1344167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120640"/>
            <a:ext cx="10579608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VÍDEO OPCIONAL · SUBSTITUIR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" y="5376672"/>
            <a:ext cx="10579608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"RabbitMQ in 100 Seconds": Fireship (YouTube)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" y="5833872"/>
            <a:ext cx="10579608" cy="429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C7884"/>
                </a:solidFill>
                <a:latin typeface="Calibri"/>
              </a:rPr>
              <a:t>Abrir no browser antes da apresentação, reproduzir os primeiros 45s. Pausar antes do próximo slide.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E8541E"/>
                </a:solidFill>
                <a:latin typeface="Calibr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Desacoplar produção de consumo via broker de mensagens.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5819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6876"/>
            <a:ext cx="15819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0" b="1" i="0">
                <a:solidFill>
                  <a:srgbClr val="51606E"/>
                </a:solidFill>
                <a:latin typeface="Calibri"/>
              </a:rPr>
              <a:t>Usuário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58568" y="2583179"/>
            <a:ext cx="128016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423160" y="2194560"/>
            <a:ext cx="15819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2436876"/>
            <a:ext cx="15819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0" b="1" i="0">
                <a:solidFill>
                  <a:srgbClr val="1F7A8C"/>
                </a:solidFill>
                <a:latin typeface="Calibri"/>
              </a:rPr>
              <a:t>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41648" y="2583179"/>
            <a:ext cx="128015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206240" y="2194560"/>
            <a:ext cx="15819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436876"/>
            <a:ext cx="15819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0" b="1" i="0">
                <a:solidFill>
                  <a:srgbClr val="E8541E"/>
                </a:solidFill>
                <a:latin typeface="Calibri"/>
              </a:rPr>
              <a:t>Fila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24728" y="2583179"/>
            <a:ext cx="128016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89320" y="2194560"/>
            <a:ext cx="15819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2436876"/>
            <a:ext cx="15819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0" b="1" i="0">
                <a:solidFill>
                  <a:srgbClr val="2F8F5B"/>
                </a:solidFill>
                <a:latin typeface="Calibri"/>
              </a:rPr>
              <a:t>worker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7" y="2583179"/>
            <a:ext cx="128017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772400" y="2194560"/>
            <a:ext cx="15819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36876"/>
            <a:ext cx="15819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0" b="1" i="0">
                <a:solidFill>
                  <a:srgbClr val="2F8F5B"/>
                </a:solidFill>
                <a:latin typeface="Calibri"/>
              </a:rPr>
              <a:t>worker 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90888" y="2583179"/>
            <a:ext cx="128016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555480" y="2194560"/>
            <a:ext cx="15819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2436876"/>
            <a:ext cx="15819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50" b="1" i="0">
                <a:solidFill>
                  <a:srgbClr val="2F8F5B"/>
                </a:solidFill>
                <a:latin typeface="Calibri"/>
              </a:rPr>
              <a:t>worker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154680"/>
            <a:ext cx="4572000" cy="384048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" y="3264408"/>
            <a:ext cx="4242816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F8F5B"/>
                </a:solidFill>
                <a:latin typeface="Courier New"/>
              </a:rPr>
              <a:t>&lt;- API responde imediato: { "status": "pending" 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749039"/>
            <a:ext cx="3489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7" y="3982211"/>
            <a:ext cx="137160" cy="137160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3931920"/>
            <a:ext cx="28498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1C1B22"/>
                </a:solidFill>
                <a:latin typeface="Calibri"/>
              </a:rPr>
              <a:t>Resposta imediata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407407"/>
            <a:ext cx="3087624" cy="594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API retorna na hora. Processamento ocorre em background.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9496" y="3749039"/>
            <a:ext cx="3489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50664" y="3982211"/>
            <a:ext cx="137160" cy="137160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06696" y="3931920"/>
            <a:ext cx="28498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1C1B22"/>
                </a:solidFill>
                <a:latin typeface="Calibri"/>
              </a:rPr>
              <a:t>Workers independentes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0664" y="4407407"/>
            <a:ext cx="3087624" cy="594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Cada etapa é um serviço separado. Falha num não para os outros.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58911" y="3749039"/>
            <a:ext cx="3489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60080" y="3982211"/>
            <a:ext cx="137160" cy="13716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16112" y="3931920"/>
            <a:ext cx="28498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1C1B22"/>
                </a:solidFill>
                <a:latin typeface="Calibri"/>
              </a:rPr>
              <a:t>Escalabilidade natural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0080" y="4407407"/>
            <a:ext cx="3087624" cy="594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Adicionar workers = aumentar throughput sem mudar a API.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E8541E"/>
                </a:solidFill>
                <a:latin typeface="Calibri"/>
              </a:rPr>
              <a:t>VISÃO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O que é o RabbitMQ?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Message broker open-source: o intermediário confiável.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08792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>
                <a:solidFill>
                  <a:srgbClr val="E8541E"/>
                </a:solidFill>
                <a:latin typeface="Calibri"/>
              </a:rPr>
              <a:t>Message Broker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32303"/>
            <a:ext cx="10908792" cy="868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C1B22"/>
                </a:solidFill>
                <a:latin typeface="Calibri"/>
              </a:rPr>
              <a:t>Intermediário entre quem envia e quem recebe mensagens.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C1B22"/>
                </a:solidFill>
                <a:latin typeface="Calibri"/>
              </a:rPr>
              <a:t>Desacopla produtor de consumidor no tempo e no espaço. Não é um banco de dados: é um canal confiável.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163823"/>
            <a:ext cx="10908792" cy="0"/>
          </a:xfrm>
          <a:prstGeom prst="line">
            <a:avLst/>
          </a:prstGeom>
          <a:ln w="9525">
            <a:solidFill>
              <a:srgbClr val="D7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291839"/>
            <a:ext cx="10908792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>
                <a:solidFill>
                  <a:srgbClr val="E8541E"/>
                </a:solidFill>
                <a:latin typeface="Calibri"/>
              </a:rPr>
              <a:t>Protocolo AMQP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21023"/>
            <a:ext cx="10908792" cy="868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C1B22"/>
                </a:solidFill>
                <a:latin typeface="Calibri"/>
              </a:rPr>
              <a:t>Implementa AMQP 0-9-1 (Advanced Message Queuing Protocol), protocolo aberto e binário com semântica bem definida de ACK.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C1B22"/>
                </a:solidFill>
                <a:latin typeface="Calibri"/>
              </a:rPr>
              <a:t>Também suporta STOMP, MQTT e AMQP 1.0 via plugins.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4352544"/>
            <a:ext cx="10908792" cy="0"/>
          </a:xfrm>
          <a:prstGeom prst="line">
            <a:avLst/>
          </a:prstGeom>
          <a:ln w="9525">
            <a:solidFill>
              <a:srgbClr val="D7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4480559"/>
            <a:ext cx="10908792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>
                <a:solidFill>
                  <a:srgbClr val="E8541E"/>
                </a:solidFill>
                <a:latin typeface="Calibri"/>
              </a:rPr>
              <a:t>Erlang / OTP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9744"/>
            <a:ext cx="10908792" cy="868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C1B22"/>
                </a:solidFill>
                <a:latin typeface="Calibri"/>
              </a:rPr>
              <a:t>Escrito em Erlang, linguagem criada para sistemas de telecom com 99,9999999% de disponibilidade (nine nines).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C1B22"/>
                </a:solidFill>
                <a:latin typeface="Calibri"/>
              </a:rPr>
              <a:t>Isolamento de processos e recuperação de falhas nativos.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E8541E"/>
                </a:solidFill>
                <a:latin typeface="Calibri"/>
              </a:rPr>
              <a:t>VISÃO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Onde é utilizado?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Qualquer sistema que precisa desacoplar e escalar.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035454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2035454" cy="64008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340863"/>
            <a:ext cx="170627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E-commerce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017520"/>
            <a:ext cx="1706270" cy="2468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Checkout, pagamento, estoque e notificação.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Exatamente o nosso projeto TicketLab.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8414" y="2103120"/>
            <a:ext cx="2035454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58414" y="2103120"/>
            <a:ext cx="2035454" cy="6400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3006" y="2340863"/>
            <a:ext cx="170627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Sistemas bancários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3006" y="3017520"/>
            <a:ext cx="1706270" cy="2468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Processamento assíncrono de transações.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Auditoria e filas de conciliação.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6748" y="2103120"/>
            <a:ext cx="2035454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6748" y="2103120"/>
            <a:ext cx="2035454" cy="6400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1340" y="2340863"/>
            <a:ext cx="170627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IoT e sensores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1340" y="3017520"/>
            <a:ext cx="1706270" cy="2468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Ingestão de eventos de milhares de dispositivos.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Fanout para múltiplos consumidores analíticos.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5083" y="2103120"/>
            <a:ext cx="2035454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5083" y="2103120"/>
            <a:ext cx="2035454" cy="64008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9675" y="2340863"/>
            <a:ext cx="170627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Microserviços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9675" y="3017520"/>
            <a:ext cx="1706270" cy="2468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Comunicação entre bounded contexts sem acoplamento temporal.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Event-driven architecture.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13417" y="2103120"/>
            <a:ext cx="2035454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13417" y="2103120"/>
            <a:ext cx="2035454" cy="64008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8009" y="2340863"/>
            <a:ext cx="170627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Reservas / Ingressos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8009" y="3017520"/>
            <a:ext cx="1706270" cy="2468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Controle de concorrência em estoque limitado.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Fila garante um worker por vez no estoque.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1F7A8C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Arquitetura Interna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Producer → Exchange → Queue → Consumer.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79"/>
            <a:ext cx="1090879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tectur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301" y="2423160"/>
            <a:ext cx="2762348" cy="1600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" y="4462272"/>
            <a:ext cx="2590038" cy="1892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7" y="4695444"/>
            <a:ext cx="137160" cy="137160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645152"/>
            <a:ext cx="194995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Producer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5120640"/>
            <a:ext cx="2187702" cy="10698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Envia mensagens ao Exchange. Não conhece as filas.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2998" y="4462272"/>
            <a:ext cx="2590038" cy="1892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4166" y="4695444"/>
            <a:ext cx="137160" cy="13716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0198" y="4645152"/>
            <a:ext cx="194995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4166" y="5120640"/>
            <a:ext cx="2187702" cy="10698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Recebe e roteia via binding + routing key. Não armazena.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5916" y="4462272"/>
            <a:ext cx="2590038" cy="1892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7084" y="4695444"/>
            <a:ext cx="137160" cy="137160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3116" y="4645152"/>
            <a:ext cx="194995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Queue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7084" y="5120640"/>
            <a:ext cx="2187702" cy="10698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Armazena mensagens até o consumer estar pronto.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58834" y="4462272"/>
            <a:ext cx="2590038" cy="1892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60002" y="4695444"/>
            <a:ext cx="137160" cy="137160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6034" y="4645152"/>
            <a:ext cx="194995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Consumer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0002" y="5120640"/>
            <a:ext cx="2187702" cy="10698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Processa e envia ACK. Só então o broker remove da fila.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1F7A8C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Exchange Direct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Roteamento pela chave exata: cada mensagem vai para uma única fila.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39"/>
            <a:ext cx="54406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651759"/>
            <a:ext cx="1417320" cy="566928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788919"/>
            <a:ext cx="1417320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i="0">
                <a:solidFill>
                  <a:srgbClr val="51606E"/>
                </a:solidFill>
                <a:latin typeface="Calibri"/>
              </a:rPr>
              <a:t>Producer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291839"/>
            <a:ext cx="178308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950" b="0" i="1">
                <a:solidFill>
                  <a:srgbClr val="6C7884"/>
                </a:solidFill>
                <a:latin typeface="Calibri"/>
              </a:rPr>
              <a:t>key="payment"</a:t>
            </a:r>
          </a:p>
        </p:txBody>
      </p:sp>
      <p:sp>
        <p:nvSpPr>
          <p:cNvPr id="11" name="Oval 10"/>
          <p:cNvSpPr/>
          <p:nvPr/>
        </p:nvSpPr>
        <p:spPr>
          <a:xfrm>
            <a:off x="3035808" y="2546603"/>
            <a:ext cx="777240" cy="777240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2697479"/>
            <a:ext cx="77724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Direct
Exchange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0008" y="2935223"/>
            <a:ext cx="64922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315968" y="2514599"/>
            <a:ext cx="2103120" cy="512064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2624327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2F8F5B"/>
                </a:solidFill>
                <a:latin typeface="Calibri"/>
              </a:rPr>
              <a:t>payment-queue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442716" y="2770631"/>
            <a:ext cx="836676" cy="164592"/>
          </a:xfrm>
          <a:prstGeom prst="line">
            <a:avLst/>
          </a:prstGeom>
          <a:ln w="25400">
            <a:solidFill>
              <a:srgbClr val="2F8F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10527" y="2651759"/>
            <a:ext cx="82296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 i="0">
                <a:solidFill>
                  <a:srgbClr val="2F8F5B"/>
                </a:solidFill>
                <a:latin typeface="Calibri"/>
              </a:rPr>
              <a:t>match!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209544"/>
            <a:ext cx="2103120" cy="512064"/>
          </a:xfrm>
          <a:prstGeom prst="rect">
            <a:avLst/>
          </a:prstGeom>
          <a:solidFill>
            <a:srgbClr val="FFFFFF"/>
          </a:solidFill>
          <a:ln w="16510">
            <a:solidFill>
              <a:srgbClr val="6C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15968" y="3319272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6C7884"/>
                </a:solidFill>
                <a:latin typeface="Calibri"/>
              </a:rPr>
              <a:t>stock-queue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42716" y="2935223"/>
            <a:ext cx="836676" cy="530353"/>
          </a:xfrm>
          <a:prstGeom prst="line">
            <a:avLst/>
          </a:prstGeom>
          <a:ln w="12700">
            <a:solidFill>
              <a:srgbClr val="D7DBE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315968" y="3904487"/>
            <a:ext cx="2103120" cy="512064"/>
          </a:xfrm>
          <a:prstGeom prst="rect">
            <a:avLst/>
          </a:prstGeom>
          <a:solidFill>
            <a:srgbClr val="FFFFFF"/>
          </a:solidFill>
          <a:ln w="16510">
            <a:solidFill>
              <a:srgbClr val="6C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4014215"/>
            <a:ext cx="2103120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6C7884"/>
                </a:solidFill>
                <a:latin typeface="Calibri"/>
              </a:rPr>
              <a:t>notification-queue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42716" y="2935223"/>
            <a:ext cx="836676" cy="1225297"/>
          </a:xfrm>
          <a:prstGeom prst="line">
            <a:avLst/>
          </a:prstGeom>
          <a:ln w="12700">
            <a:solidFill>
              <a:srgbClr val="D7DBE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96112" y="4800600"/>
            <a:ext cx="4928616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6C7884"/>
                </a:solidFill>
                <a:latin typeface="Calibri"/>
              </a:rPr>
              <a:t>Apenas a routing key idêntica recebe a mensagem; as demais filas não são tocadas.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103120"/>
            <a:ext cx="5193792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E8541E"/>
                </a:solidFill>
                <a:latin typeface="Calibri"/>
              </a:rPr>
              <a:t>No TicketLab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2468879"/>
            <a:ext cx="5193792" cy="123444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9672" y="2578608"/>
            <a:ext cx="4864608" cy="10149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ticket-sales -&gt; payment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  -&gt; payment-queue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payment-approved -&gt; stock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  -&gt; stock-queue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stock-confirmed -&gt; notification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  -&gt; notification-queue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886200"/>
            <a:ext cx="5193792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E8541E"/>
                </a:solidFill>
                <a:latin typeface="Calibri"/>
              </a:rPr>
              <a:t>Por que Direct?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4366259"/>
            <a:ext cx="82296" cy="8229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92824" y="4297679"/>
            <a:ext cx="49560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C1B22"/>
                </a:solidFill>
                <a:latin typeface="Calibri"/>
              </a:rPr>
              <a:t>Pipeline linear: cada etapa tem uma fila dedicada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4786883"/>
            <a:ext cx="82296" cy="8229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92824" y="4718303"/>
            <a:ext cx="49560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C1B22"/>
                </a:solidFill>
                <a:latin typeface="Calibri"/>
              </a:rPr>
              <a:t>Routing simples e previsível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5207507"/>
            <a:ext cx="82296" cy="8229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2824" y="5138927"/>
            <a:ext cx="49560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C1B22"/>
                </a:solidFill>
                <a:latin typeface="Calibri"/>
              </a:rPr>
              <a:t>Fácil de monitorar no Management 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1F7A8C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Outros Tipos de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Fanout · Topic · Headers.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48996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249424"/>
            <a:ext cx="3087624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E8541E"/>
                </a:solidFill>
                <a:latin typeface="Century Schoolbook"/>
              </a:rPr>
              <a:t>Fanout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33472"/>
            <a:ext cx="3087624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Copia para TODAS as filas vinculadas. Ignora routing key.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Uso: broadcast de eventos (logs, auditoria, notificações globais).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730752"/>
            <a:ext cx="3489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nout-ex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864" y="3822191"/>
            <a:ext cx="2140391" cy="214883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349496" y="2103120"/>
            <a:ext cx="348996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2249424"/>
            <a:ext cx="3087624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E8541E"/>
                </a:solidFill>
                <a:latin typeface="Century Schoolbook"/>
              </a:rPr>
              <a:t>Topic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0664" y="2633472"/>
            <a:ext cx="3087624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Padrão com wildcards: * (uma palavra) e # (zero ou mais).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"order.#" captura "order.created", "order.paid"... Uso: sistemas de eventos flexíveis.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9496" y="3730752"/>
            <a:ext cx="3489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opic-exch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212" y="3822191"/>
            <a:ext cx="1960526" cy="214883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058911" y="2103120"/>
            <a:ext cx="348996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0080" y="2249424"/>
            <a:ext cx="3087624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E8541E"/>
                </a:solidFill>
                <a:latin typeface="Century Schoolbook"/>
              </a:rPr>
              <a:t>Headers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0080" y="2633472"/>
            <a:ext cx="3087624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Roteia por atributos do cabeçalho AMQP.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Mais expressivo que Topic, porém mais raro na prática. Uso: roteamento por metadados arbitrários.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8911" y="3730752"/>
            <a:ext cx="3489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abbitmq-headers-ex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2267" y="3822191"/>
            <a:ext cx="1843248" cy="214883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1F7A8C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Funcionalidades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O que o RabbitMQ oferece além do roteamento básico.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50215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7" y="2336291"/>
            <a:ext cx="137160" cy="137160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28620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Mensagens Persistentes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761487"/>
            <a:ext cx="3099816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delivery_mode=PERSISTENT grava em disco antes de confirmar. Sem isso, reinicio apaga 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03120"/>
            <a:ext cx="350215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44568" y="2336291"/>
            <a:ext cx="137160" cy="13716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286000"/>
            <a:ext cx="28620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Filas Durable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761487"/>
            <a:ext cx="3099816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Metadados da fila ficam no disco. Broker reinicia: fila existe e mensagens voltam.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50215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47888" y="2336291"/>
            <a:ext cx="137160" cy="137160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86000"/>
            <a:ext cx="28620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ACK Manual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761487"/>
            <a:ext cx="3099816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Consumer confirma só após processar e salvar. Broker só remove ao receber ACK.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42231"/>
            <a:ext cx="350215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7" y="4375403"/>
            <a:ext cx="137160" cy="137160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325112"/>
            <a:ext cx="28620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Dead Letter Exchange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800599"/>
            <a:ext cx="3099816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NACK sem requeue envia para DLX: dead letter queue para análise e reprocessamento.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4142231"/>
            <a:ext cx="350215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44568" y="4375403"/>
            <a:ext cx="137160" cy="137160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325112"/>
            <a:ext cx="28620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QoS / Prefetch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4568" y="4800599"/>
            <a:ext cx="3099816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prefetch_count limita mensagens em voo por consumer. Backpressure automático.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4142231"/>
            <a:ext cx="350215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47888" y="4375403"/>
            <a:ext cx="137160" cy="13716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325112"/>
            <a:ext cx="28620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Management UI /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4800599"/>
            <a:ext cx="3099816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Interface web + HTTP API para monitorar filas, consumers e publicar mensagens.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C0392B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Falha 1: Crash-stop do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O container morre; nenhuma mensagem se perde.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874519" cy="713232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2824"/>
            <a:ext cx="1874519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51606E"/>
                </a:solidFill>
                <a:latin typeface="Calibri"/>
              </a:rPr>
              <a:t>Fila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31059"/>
            <a:ext cx="1783079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payment-queue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103120"/>
            <a:ext cx="1874519" cy="713232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302824"/>
            <a:ext cx="1874519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F8F5B"/>
                </a:solidFill>
                <a:latin typeface="Calibri"/>
              </a:rPr>
              <a:t>Worker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31059"/>
            <a:ext cx="1783079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processando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03120"/>
            <a:ext cx="1874519" cy="713232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302824"/>
            <a:ext cx="1874519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F8F5B"/>
                </a:solidFill>
                <a:latin typeface="Calibri"/>
              </a:rPr>
              <a:t>Worker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531059"/>
            <a:ext cx="1783079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aguardando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2459736"/>
            <a:ext cx="841248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340096" y="2459736"/>
            <a:ext cx="914400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429000" y="2953512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50" b="1" i="0">
                <a:solidFill>
                  <a:srgbClr val="C0392B"/>
                </a:solidFill>
                <a:latin typeface="Calibri"/>
              </a:rPr>
              <a:t>✗ Worker A cai (SIGKILL)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66260" y="3264408"/>
            <a:ext cx="0" cy="475488"/>
          </a:xfrm>
          <a:prstGeom prst="line">
            <a:avLst/>
          </a:prstGeom>
          <a:ln w="22860">
            <a:solidFill>
              <a:srgbClr val="C0392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40080" y="3822191"/>
            <a:ext cx="2331720" cy="713232"/>
          </a:xfrm>
          <a:prstGeom prst="rect">
            <a:avLst/>
          </a:prstGeom>
          <a:solidFill>
            <a:srgbClr val="FFFFFF"/>
          </a:solidFill>
          <a:ln w="16510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021896"/>
            <a:ext cx="2331720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50" b="1" i="0">
                <a:solidFill>
                  <a:srgbClr val="B9770E"/>
                </a:solidFill>
                <a:latin typeface="Calibri"/>
              </a:rPr>
              <a:t>msgs unacked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50131"/>
            <a:ext cx="2240279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voltam para ready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3822191"/>
            <a:ext cx="2331720" cy="713232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4032504"/>
            <a:ext cx="2331720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50" b="1" i="0">
                <a:solidFill>
                  <a:srgbClr val="2F8F5B"/>
                </a:solidFill>
                <a:latin typeface="Calibri"/>
              </a:rPr>
              <a:t>Worker B assume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08376" y="4178807"/>
            <a:ext cx="841248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452360" y="2103120"/>
            <a:ext cx="409651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53528" y="2267712"/>
            <a:ext cx="369417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1C1B22"/>
                </a:solidFill>
                <a:latin typeface="Calibri"/>
              </a:rPr>
              <a:t>Por que não perde mensagens?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53528" y="2948940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91272" y="2880360"/>
            <a:ext cx="345643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TCP disconnect detectado: RabbitMQ libera msgs unacked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53528" y="3369564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91272" y="3300984"/>
            <a:ext cx="345643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Outras msgs na fila ficam em estado ready, esperando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53528" y="3790188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1272" y="3721608"/>
            <a:ext cx="345643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Worker B (ou C) pega as mensagens liberadas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53528" y="4210812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1272" y="4142232"/>
            <a:ext cx="345643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Sem intervenção manual: é automático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736592"/>
            <a:ext cx="6537960" cy="1618488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" y="4846320"/>
            <a:ext cx="6208776" cy="1399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make send-1000        # enche a fila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make kill-payment      # mata um worker abruptamente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make logs-payment      # outro worker assume as msgs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2360" y="4736592"/>
            <a:ext cx="4096512" cy="161848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16952" y="4846320"/>
            <a:ext cx="3767328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GIF · SUBSTITUIR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16952" y="5102352"/>
            <a:ext cx="3767328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Terminal: kill-payment + logs-payment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C0392B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700" b="1" i="0">
                <a:solidFill>
                  <a:srgbClr val="1C1B22"/>
                </a:solidFill>
                <a:latin typeface="Century Schoolbook"/>
              </a:rPr>
              <a:t>Falha 2: Crash-recovery + Retry + DLQ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O broker reinicia · a lógica falha · o destino final.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17236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267712"/>
            <a:ext cx="49149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E8541E"/>
                </a:solidFill>
                <a:latin typeface="Calibri"/>
              </a:rPr>
              <a:t>Crash-recovery do Broker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7" y="2738628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670048"/>
            <a:ext cx="467715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RabbitMQ reinicia (docker restart)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159252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090672"/>
            <a:ext cx="467715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Mensagens PERSISTENT + filas durable ficam no disco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3579876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511296"/>
            <a:ext cx="467715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Workers reconectam automaticamente (connect_robust)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" y="4000500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31920"/>
            <a:ext cx="467715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Sistema retoma de onde parou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434840"/>
            <a:ext cx="4914900" cy="36576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39" y="4544568"/>
            <a:ext cx="4585716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make restart-rabbit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7" y="4937760"/>
            <a:ext cx="4914900" cy="125272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39" y="5047488"/>
            <a:ext cx="4585716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39" y="5303520"/>
            <a:ext cx="4585716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RabbitMQ UI após restart: filas com msgs intactas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103120"/>
            <a:ext cx="5317236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2804" y="2267712"/>
            <a:ext cx="49149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1F7A8C"/>
                </a:solidFill>
                <a:latin typeface="Calibri"/>
              </a:rPr>
              <a:t>Retry com Dead Letter Queue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32804" y="2651760"/>
            <a:ext cx="4914900" cy="178308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7396" y="2761488"/>
            <a:ext cx="4585716" cy="15636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msg -&gt; worker -&gt; falha (RuntimeError)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  -&gt; republica x-retry-count: 1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  -&gt; falha de novo: x-retry-count: 2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  -&gt; falha de novo: x-retry-count: 3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  -&gt; max_retries atingido!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  -&gt; NACK(requeue=False) -&gt; DLX -&gt; DLQ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32804" y="4617720"/>
            <a:ext cx="4914900" cy="157276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7396" y="4727448"/>
            <a:ext cx="4585716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7396" y="4983480"/>
            <a:ext cx="4585716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RabbitMQ UI: dead-letter-queue com N mensagens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C0392B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Modelos de Falha: Resumo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O que suportamos vs. o que não suportamos.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150" b="1" i="0" spc="120">
                <a:solidFill>
                  <a:srgbClr val="2F8F5B"/>
                </a:solidFill>
                <a:latin typeface="Calibri"/>
              </a:rPr>
              <a:t>✓ SUPORTADO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32303"/>
            <a:ext cx="535381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7" y="2665475"/>
            <a:ext cx="137160" cy="137160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615184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Crash-stop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090672"/>
            <a:ext cx="4951476" cy="25603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Worker morre: mensagens voltam para a fila automaticamente.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5060" y="2432303"/>
            <a:ext cx="535381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6228" y="2665475"/>
            <a:ext cx="137160" cy="137160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2260" y="2615184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Crash-recovery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6228" y="3090672"/>
            <a:ext cx="4951476" cy="25603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Broker reinicia: mensagens PERSISTENT sobrevivem no disco.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39311"/>
            <a:ext cx="535381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7" y="3872483"/>
            <a:ext cx="137160" cy="137160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822191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Omissão com retry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297679"/>
            <a:ext cx="4951476" cy="25603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Falhas de lógica geram DLQ após N tentativas.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060" y="3639311"/>
            <a:ext cx="535381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96228" y="3872483"/>
            <a:ext cx="137160" cy="137160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2260" y="3822191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Partição de rede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4297679"/>
            <a:ext cx="4951476" cy="25603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connect_robust reconecta com backoff exponencial.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2919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150" b="1" i="0" spc="120">
                <a:solidFill>
                  <a:srgbClr val="C0392B"/>
                </a:solidFill>
                <a:latin typeface="Calibri"/>
              </a:rPr>
              <a:t>✗ NÃO SUPORTADO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358383"/>
            <a:ext cx="535381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7" y="5591555"/>
            <a:ext cx="137160" cy="1371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541264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Falhas Byzantinas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6016751"/>
            <a:ext cx="4951476" cy="25603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Nó malicioso enviando mensagens forjadas ou corrompidas.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5060" y="5358383"/>
            <a:ext cx="535381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96228" y="5591555"/>
            <a:ext cx="137160" cy="1371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2260" y="5541264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Exatamente-uma-vez nativo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6228" y="6016751"/>
            <a:ext cx="4951476" cy="25603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6C7884"/>
                </a:solidFill>
                <a:latin typeface="Calibri"/>
              </a:rPr>
              <a:t>At-least-once: duplicatas possíveis (tratamos com idempotência).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547103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50" b="0" i="1">
                <a:solidFill>
                  <a:srgbClr val="6C7884"/>
                </a:solidFill>
                <a:latin typeface="Calibri"/>
              </a:rPr>
              <a:t>Falhas Byzantinas requerem protocolo BFT dedicado (PBFT, Tendermint): fora do escopo do RabbitMQ.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1F7A8C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600" b="1" i="0">
                <a:solidFill>
                  <a:srgbClr val="1C1B22"/>
                </a:solidFill>
                <a:latin typeface="Century Schoolbook"/>
              </a:rPr>
              <a:t>Confiabilidade: Fair-Loss vs Perfect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O que acontece com as mensagens quando o broker cai?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17236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267712"/>
            <a:ext cx="49149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B9770E"/>
                </a:solidFill>
                <a:latin typeface="Calibri"/>
              </a:rPr>
              <a:t>Fair-Loss 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33472"/>
            <a:ext cx="491490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B22"/>
                </a:solidFill>
                <a:latin typeface="Calibri"/>
              </a:rPr>
              <a:t>Mensagens podem se perder, mas não são inventadas.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7" y="3017520"/>
            <a:ext cx="4914900" cy="77724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39" y="3127248"/>
            <a:ext cx="4585716" cy="557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exchange -&gt; non-durable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fila -&gt; non-durable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delivery -&gt; NON_PERSISTENT (RAM)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913631"/>
            <a:ext cx="49149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Resultado: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4293107"/>
            <a:ext cx="82296" cy="82296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24527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Broker reinicia: mensagens na RAM somem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" y="4658868"/>
            <a:ext cx="82296" cy="82296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590288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Nenhum aviso ao producer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5024628"/>
            <a:ext cx="82296" cy="82296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56048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Garantia? Nenhuma.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2103120"/>
            <a:ext cx="5317236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2804" y="2267712"/>
            <a:ext cx="49149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F8F5B"/>
                </a:solidFill>
                <a:latin typeface="Calibri"/>
              </a:rPr>
              <a:t>Perfect Link (at-least-once)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2804" y="2633472"/>
            <a:ext cx="491490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B22"/>
                </a:solidFill>
                <a:latin typeface="Calibri"/>
              </a:rPr>
              <a:t>Toda mensagem enviada é eventualmente entregue.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2804" y="3017520"/>
            <a:ext cx="4914900" cy="100584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7396" y="3127248"/>
            <a:ext cx="4585716" cy="7863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exchange -&gt; durable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fila -&gt; durable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delivery -&gt; PERSISTENT (disco)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ACK -&gt; manual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conexao -&gt; connect_robust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2804" y="4133087"/>
            <a:ext cx="49149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Ressalva: at-least-once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2804" y="4443983"/>
            <a:ext cx="4914900" cy="777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C7884"/>
                </a:solidFill>
                <a:latin typeface="Calibri"/>
              </a:rPr>
              <a:t>Worker processa e falha antes do ACK: recebe a mensagem de novo. Idempotência (próximos slides) trata isso.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1F7A8C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BEB vs Reliable 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O producer falha no meio: o que acontece?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17236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267712"/>
            <a:ext cx="49149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B9770E"/>
                </a:solidFill>
                <a:latin typeface="Calibri"/>
              </a:rPr>
              <a:t>Best Effort Broadcast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33472"/>
            <a:ext cx="4914900" cy="3200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B22"/>
                </a:solidFill>
                <a:latin typeface="Calibri"/>
              </a:rPr>
              <a:t>O emissor dispara e não garante se ele mesmo falhar.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7" y="3017520"/>
            <a:ext cx="4914900" cy="86868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39" y="3127248"/>
            <a:ext cx="4585716" cy="649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# publisher.py - sem publisher confirms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await exchange.publish(msg, key='payment')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# broker cai aqui -&gt; msg perdida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7" y="4091940"/>
            <a:ext cx="82296" cy="82296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023360"/>
            <a:ext cx="467715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Enviamos 1000 mensagens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7" y="4439412"/>
            <a:ext cx="82296" cy="82296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370832"/>
            <a:ext cx="467715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Broker cai na mensagem 500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7" y="4786884"/>
            <a:ext cx="82296" cy="82296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4718304"/>
            <a:ext cx="467715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Mensagens 501 a 1000 perdidas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7" y="5134356"/>
            <a:ext cx="82296" cy="82296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065776"/>
            <a:ext cx="467715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Producer não tem como saber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2103120"/>
            <a:ext cx="5317236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2804" y="2267712"/>
            <a:ext cx="49149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F8F5B"/>
                </a:solidFill>
                <a:latin typeface="Calibri"/>
              </a:rPr>
              <a:t>Reliable Broadcast (aprox.)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2804" y="2633472"/>
            <a:ext cx="4914900" cy="3200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B22"/>
                </a:solidFill>
                <a:latin typeface="Calibri"/>
              </a:rPr>
              <a:t>Se um processo correto entrega m, todos entregam 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32804" y="3086100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0548" y="3017520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Mensagem com PERSISTENT nunca some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32804" y="3451860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0548" y="3383279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ACK manual: broker guarda até confirmar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32804" y="3817620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0548" y="3749039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Worker ativo processa eventualmente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2804" y="4343400"/>
            <a:ext cx="49149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O que ainda falta para RB formal: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32804" y="4713732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0548" y="4645152"/>
            <a:ext cx="4677156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rgbClr val="6C7884"/>
                </a:solidFill>
                <a:latin typeface="Calibri"/>
              </a:rPr>
              <a:t>Publisher confirms (sem eles = BEB)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32804" y="5042916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0548" y="4974336"/>
            <a:ext cx="4677156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0">
                <a:solidFill>
                  <a:srgbClr val="6C7884"/>
                </a:solidFill>
                <a:latin typeface="Calibri"/>
              </a:rPr>
              <a:t>Se producer cai antes de publicar, não há recuperação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1F7A8C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Uniform Reliable 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O nível mais alto: como chegamos perto.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08792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</a:rPr>
              <a:t>Definição de URB: se qualquer processo (correto ou com falha) entrega m, TODOS entregam m. Requer consenso.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39"/>
            <a:ext cx="531723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770632"/>
            <a:ext cx="49149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C0392B"/>
                </a:solidFill>
                <a:latin typeface="Calibri"/>
              </a:rPr>
              <a:t>✗ RabbitMQ não garante URB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182111"/>
            <a:ext cx="4914900" cy="1691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B22"/>
                </a:solidFill>
                <a:latin typeface="Calibri"/>
              </a:rPr>
              <a:t>Worker A: recebe a mensagem, processa parcialmente, salva metade no banco e falha antes do ACK.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B22"/>
                </a:solidFill>
                <a:latin typeface="Calibri"/>
              </a:rPr>
              <a:t>Worker B: recebe a mesma mensagem de novo. O estado parcial do Worker A já existe: sem consenso sobre quem entregou.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606039"/>
            <a:ext cx="531723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F8F5B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2804" y="2770632"/>
            <a:ext cx="49149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F8F5B"/>
                </a:solidFill>
                <a:latin typeface="Calibri"/>
              </a:rPr>
              <a:t>✓ Nossa solução: idempotência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2804" y="3154679"/>
            <a:ext cx="4914900" cy="109728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7396" y="3264408"/>
            <a:ext cx="4585716" cy="8778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# notification-worker/worker.py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if order.status == 'confirmed':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    return  # ja processado, ignora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2804" y="4315968"/>
            <a:ext cx="491490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B22"/>
                </a:solidFill>
                <a:latin typeface="Calibri"/>
              </a:rPr>
              <a:t>Resultado: exactly-once semântico para o usuário, mesmo com at-least-once na fila.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10908792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100" b="0" i="1">
                <a:solidFill>
                  <a:srgbClr val="6C7884"/>
                </a:solidFill>
                <a:latin typeface="Calibri"/>
              </a:rPr>
              <a:t>Quorum Queues (RabbitMQ 3.8+ com Raft) aproximam o URB nativamente: próximo passo real.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1F7A8C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Comparativo: os 5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De Fair-Loss até URB: onde o RabbitMQ se encaixa.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08789" cy="2724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81758"/>
                <a:gridCol w="1636318"/>
                <a:gridCol w="1636318"/>
                <a:gridCol w="1963582"/>
                <a:gridCol w="349081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128016" marR="128016" marT="36576" marB="36576" anchor="ctr">
                    <a:solidFill>
                      <a:srgbClr val="1C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Perde msg?</a:t>
                      </a:r>
                    </a:p>
                  </a:txBody>
                  <a:tcPr marL="128016" marR="128016" marT="36576" marB="36576" anchor="ctr">
                    <a:solidFill>
                      <a:srgbClr val="1C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Duplicatas?</a:t>
                      </a:r>
                    </a:p>
                  </a:txBody>
                  <a:tcPr marL="128016" marR="128016" marT="36576" marB="36576" anchor="ctr">
                    <a:solidFill>
                      <a:srgbClr val="1C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Crash producer</a:t>
                      </a:r>
                    </a:p>
                  </a:txBody>
                  <a:tcPr marL="128016" marR="128016" marT="36576" marB="36576" anchor="ctr">
                    <a:solidFill>
                      <a:srgbClr val="1C1B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 projeto</a:t>
                      </a:r>
                    </a:p>
                  </a:txBody>
                  <a:tcPr marL="128016" marR="128016" marT="36576" marB="36576" anchor="ctr">
                    <a:solidFill>
                      <a:srgbClr val="1C1B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1B22"/>
                          </a:solidFill>
                          <a:latin typeface="Calibri"/>
                        </a:rPr>
                        <a:t>Fair-Loss Link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Sim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Sem persistência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1B22"/>
                          </a:solidFill>
                          <a:latin typeface="Calibri"/>
                        </a:rPr>
                        <a:t>Perfect Link</a:t>
                      </a:r>
                    </a:p>
                  </a:txBody>
                  <a:tcPr marL="128016" marR="128016" marT="36576" marB="36576" anchor="ctr">
                    <a:solidFill>
                      <a:srgbClr val="FBEF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128016" marR="128016" marT="36576" marB="36576" anchor="ctr">
                    <a:solidFill>
                      <a:srgbClr val="FBEF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Possível</a:t>
                      </a:r>
                    </a:p>
                  </a:txBody>
                  <a:tcPr marL="128016" marR="128016" marT="36576" marB="36576" anchor="ctr">
                    <a:solidFill>
                      <a:srgbClr val="FBEF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Perde msgs</a:t>
                      </a:r>
                    </a:p>
                  </a:txBody>
                  <a:tcPr marL="128016" marR="128016" marT="36576" marB="36576" anchor="ctr">
                    <a:solidFill>
                      <a:srgbClr val="FBEF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PERSISTENT + ACK + durable</a:t>
                      </a:r>
                    </a:p>
                  </a:txBody>
                  <a:tcPr marL="128016" marR="128016" marT="36576" marB="36576" anchor="ctr">
                    <a:solidFill>
                      <a:srgbClr val="FBEFE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1B22"/>
                          </a:solidFill>
                          <a:latin typeface="Calibri"/>
                        </a:rPr>
                        <a:t>BEB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Possível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Perde msgs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POST /batch (sem confirms)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1B22"/>
                          </a:solidFill>
                          <a:latin typeface="Calibri"/>
                        </a:rPr>
                        <a:t>Reliable Broadcast</a:t>
                      </a:r>
                    </a:p>
                  </a:txBody>
                  <a:tcPr marL="128016" marR="128016" marT="36576" marB="36576" anchor="ctr">
                    <a:solidFill>
                      <a:srgbClr val="EDEE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128016" marR="128016" marT="36576" marB="36576" anchor="ctr">
                    <a:solidFill>
                      <a:srgbClr val="EDEE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Possível</a:t>
                      </a:r>
                    </a:p>
                  </a:txBody>
                  <a:tcPr marL="128016" marR="128016" marT="36576" marB="36576" anchor="ctr">
                    <a:solidFill>
                      <a:srgbClr val="EDEE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Perde msgs</a:t>
                      </a:r>
                    </a:p>
                  </a:txBody>
                  <a:tcPr marL="128016" marR="128016" marT="36576" marB="36576" anchor="ctr">
                    <a:solidFill>
                      <a:srgbClr val="EDEE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Aprox. com persistência</a:t>
                      </a:r>
                    </a:p>
                  </a:txBody>
                  <a:tcPr marL="128016" marR="128016" marT="36576" marB="36576" anchor="ctr">
                    <a:solidFill>
                      <a:srgbClr val="EDEEF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1B22"/>
                          </a:solidFill>
                          <a:latin typeface="Calibri"/>
                        </a:rPr>
                        <a:t>Uniform RB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Nenhuma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6C7884"/>
                          </a:solidFill>
                          <a:latin typeface="Calibri"/>
                        </a:rPr>
                        <a:t>Não nativo (idempotência)</a:t>
                      </a:r>
                    </a:p>
                  </a:txBody>
                  <a:tcPr marL="128016" marR="128016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92623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100" b="0" i="1">
                <a:solidFill>
                  <a:srgbClr val="6C7884"/>
                </a:solidFill>
                <a:latin typeface="Calibri"/>
              </a:rPr>
              <a:t>Linha destacada = nossa implementação principal.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B9770E"/>
                </a:solidFill>
                <a:latin typeface="Calibri"/>
              </a:rPr>
              <a:t>ORDENAÇÃO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Ordenação: FIFO com 1 Consumer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A fila garante a ordem. Um consumidor a respeita.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6962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6876"/>
            <a:ext cx="16962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51606E"/>
                </a:solidFill>
                <a:latin typeface="Calibri"/>
              </a:rPr>
              <a:t>msg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2868" y="2583179"/>
            <a:ext cx="73152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482596" y="2194560"/>
            <a:ext cx="16962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2596" y="2436876"/>
            <a:ext cx="16962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51606E"/>
                </a:solidFill>
                <a:latin typeface="Calibri"/>
              </a:rPr>
              <a:t>msg 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15384" y="2583179"/>
            <a:ext cx="73152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5112" y="2194560"/>
            <a:ext cx="16962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2436876"/>
            <a:ext cx="16962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51606E"/>
                </a:solidFill>
                <a:latin typeface="Calibri"/>
              </a:rPr>
              <a:t>msg 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57900" y="2583179"/>
            <a:ext cx="73152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167628" y="2194560"/>
            <a:ext cx="16962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7628" y="2436876"/>
            <a:ext cx="16962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51606E"/>
                </a:solidFill>
                <a:latin typeface="Calibri"/>
              </a:rPr>
              <a:t>msg 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00416" y="2583179"/>
            <a:ext cx="73152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10144" y="2194560"/>
            <a:ext cx="16962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0144" y="2436876"/>
            <a:ext cx="16962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51606E"/>
                </a:solidFill>
                <a:latin typeface="Calibri"/>
              </a:rPr>
              <a:t>msg 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42932" y="2583179"/>
            <a:ext cx="73152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852660" y="2194560"/>
            <a:ext cx="1696212" cy="777240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2660" y="2412187"/>
            <a:ext cx="169621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F8F5B"/>
                </a:solidFill>
                <a:latin typeface="Calibri"/>
              </a:rPr>
              <a:t>Worker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8380" y="2660904"/>
            <a:ext cx="1604772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1 consumer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200400"/>
            <a:ext cx="10908792" cy="384048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1" y="3310128"/>
            <a:ext cx="10579608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F8F5B"/>
                </a:solidFill>
                <a:latin typeface="Courier New"/>
              </a:rPr>
              <a:t>ACK por mensagem, sempre na mesma ordem:  msg1 -&gt; ack -&gt; msg2 -&gt; ack -&gt; msg3 -&gt; ack -&gt; msg4 -&gt; ack -&gt; msg5 -&gt; 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813048"/>
            <a:ext cx="109087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9770E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" y="3959352"/>
            <a:ext cx="10506456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00" b="1" i="0">
                <a:solidFill>
                  <a:srgbClr val="B9770E"/>
                </a:solidFill>
                <a:latin typeface="Calibri"/>
              </a:rPr>
              <a:t>Propriedade FIFO garantida pelo RabbitMQ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306824"/>
            <a:ext cx="10506456" cy="685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B22"/>
                </a:solidFill>
                <a:latin typeface="Calibri"/>
              </a:rPr>
              <a:t>A especificação AMQP 0-9-1 define que mensagens publicadas com a mesma routing key e priority chegam à fila na ordem em que foram publicadas, e são entregues nessa ordem a um único consumer.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08092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248655"/>
            <a:ext cx="10671048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C0392B"/>
                </a:solidFill>
                <a:latin typeface="Calibri"/>
              </a:rPr>
              <a:t>Mas: </a:t>
            </a:r>
            <a:r>
              <a:rPr sz="1250" b="0" i="0">
                <a:solidFill>
                  <a:srgbClr val="1C1B22"/>
                </a:solidFill>
                <a:latin typeface="Calibri"/>
              </a:rPr>
              <a:t>com N consumers em paralelo, a ordem global de processamento NÃO é garantida (próximo slide).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B9770E"/>
                </a:solidFill>
                <a:latin typeface="Calibri"/>
              </a:rPr>
              <a:t>ORDENAÇÃO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Ordenação: N Consumers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Paralelo quebra a ordem global. Como resolver.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39"/>
            <a:ext cx="3465576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295144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00" b="1" i="0">
                <a:solidFill>
                  <a:srgbClr val="1F7A8C"/>
                </a:solidFill>
                <a:latin typeface="Calibri"/>
              </a:rPr>
              <a:t>Fila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9828" y="3246120"/>
            <a:ext cx="676656" cy="475488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" y="3337560"/>
            <a:ext cx="676656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51606E"/>
                </a:solidFill>
                <a:latin typeface="Calibri"/>
              </a:rPr>
              <a:t>msg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59636" y="3246120"/>
            <a:ext cx="676656" cy="475488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9636" y="3337560"/>
            <a:ext cx="676656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51606E"/>
                </a:solidFill>
                <a:latin typeface="Calibri"/>
              </a:rPr>
              <a:t>msg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9444" y="3246120"/>
            <a:ext cx="676656" cy="475488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9444" y="3337560"/>
            <a:ext cx="676656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51606E"/>
                </a:solidFill>
                <a:latin typeface="Calibri"/>
              </a:rPr>
              <a:t>msg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9252" y="3246120"/>
            <a:ext cx="676656" cy="475488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9252" y="3337560"/>
            <a:ext cx="676656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51606E"/>
                </a:solidFill>
                <a:latin typeface="Calibri"/>
              </a:rPr>
              <a:t>msg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776472"/>
            <a:ext cx="3099816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0" i="1">
                <a:solidFill>
                  <a:srgbClr val="6C7884"/>
                </a:solidFill>
                <a:latin typeface="Calibri"/>
              </a:rPr>
              <a:t>ordem de chegada: 1, 2, 3,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2148839"/>
            <a:ext cx="3465576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2295144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00" b="1" i="0">
                <a:solidFill>
                  <a:srgbClr val="1F7A8C"/>
                </a:solidFill>
                <a:latin typeface="Calibri"/>
              </a:rPr>
              <a:t>Workers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44568" y="2679191"/>
            <a:ext cx="3099816" cy="566928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837931"/>
            <a:ext cx="3099816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i="0">
                <a:solidFill>
                  <a:srgbClr val="51606E"/>
                </a:solidFill>
                <a:latin typeface="Calibri"/>
              </a:rPr>
              <a:t>Worker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019348"/>
            <a:ext cx="3008376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lento · msg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44568" y="3355848"/>
            <a:ext cx="3099816" cy="566928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514587"/>
            <a:ext cx="3099816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i="0">
                <a:solidFill>
                  <a:srgbClr val="2F8F5B"/>
                </a:solidFill>
                <a:latin typeface="Calibri"/>
              </a:rPr>
              <a:t>Worker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3696004"/>
            <a:ext cx="3008376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rápido · msg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296" y="2148839"/>
            <a:ext cx="3465576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5" y="2295144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Resultado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5" y="2715768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1B22"/>
                </a:solidFill>
                <a:latin typeface="Calibri"/>
              </a:rPr>
              <a:t>Chegada: </a:t>
            </a:r>
            <a:r>
              <a:rPr sz="1200" b="0" i="0">
                <a:solidFill>
                  <a:srgbClr val="6C7884"/>
                </a:solidFill>
                <a:latin typeface="Courier New"/>
              </a:rPr>
              <a:t>1, 2, 3, 4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5" y="3026663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1B22"/>
                </a:solidFill>
                <a:latin typeface="Calibri"/>
              </a:rPr>
              <a:t>Processado: </a:t>
            </a:r>
            <a:r>
              <a:rPr sz="1200" b="0" i="0">
                <a:solidFill>
                  <a:srgbClr val="C0392B"/>
                </a:solidFill>
                <a:latin typeface="Courier New"/>
              </a:rPr>
              <a:t>2, 4, 1, 3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66175" y="3447287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3387851"/>
            <a:ext cx="2898648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150" b="1" i="0">
                <a:solidFill>
                  <a:srgbClr val="C0392B"/>
                </a:solidFill>
                <a:latin typeface="Calibri"/>
              </a:rPr>
              <a:t>Ordem global quebrada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42232" y="3086099"/>
            <a:ext cx="182880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863840" y="3086099"/>
            <a:ext cx="182880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40080" y="4297679"/>
            <a:ext cx="5317236" cy="205740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1" y="4407407"/>
            <a:ext cx="4988052" cy="183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make scale-workers N=5 &amp;&amp; make send-100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make db-query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F7A8C"/>
                </a:solidFill>
                <a:latin typeface="Courier New"/>
              </a:rPr>
              <a:t># processed_at NÃO respeita created_at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1636" y="4297679"/>
            <a:ext cx="5317236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2804" y="4443983"/>
            <a:ext cx="49149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Como garantir ordem total, se necessário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2804" y="4864607"/>
            <a:ext cx="49149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E8541E"/>
                </a:solidFill>
                <a:latin typeface="Calibri"/>
              </a:rPr>
              <a:t>Particionamento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2804" y="5193792"/>
            <a:ext cx="4914900" cy="868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1 worker por event_id, como Kafka faz com partition keys. Simples e eficaz.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2804" y="5486399"/>
            <a:ext cx="49149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1F7A8C"/>
                </a:solidFill>
                <a:latin typeface="Calibri"/>
              </a:rPr>
              <a:t>Sequencer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2804" y="5815583"/>
            <a:ext cx="4914900" cy="868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Nó central atribui número de sequência antes de publicar. Gargalo, mas garante ordem.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2804" y="6108192"/>
            <a:ext cx="49149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F8F5B"/>
                </a:solidFill>
                <a:latin typeface="Calibri"/>
              </a:rPr>
              <a:t>Kafka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2804" y="6437376"/>
            <a:ext cx="4914900" cy="868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C1B22"/>
                </a:solidFill>
                <a:latin typeface="Calibri"/>
              </a:rPr>
              <a:t>Nativo: cada partição é uma fila FIFO. Workers de uma partição respeitam a ordem.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2F8F5B"/>
                </a:solidFill>
                <a:latin typeface="Calibri"/>
              </a:rPr>
              <a:t>IMPLEMENTAÇÃO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Implementação: Persistência + 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Como o RabbitMQ garante que mensagens não somem.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59003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17627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1" i="0">
                <a:solidFill>
                  <a:srgbClr val="E8541E"/>
                </a:solidFill>
                <a:latin typeface="Century Schoolboo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79776"/>
            <a:ext cx="222427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63824"/>
            <a:ext cx="2224278" cy="7955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publish(PERSISTENT)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Grava em disco antes de retornar.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66694" y="2487168"/>
            <a:ext cx="109728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12998" y="2103120"/>
            <a:ext cx="259003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7590" y="217627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1" i="0">
                <a:solidFill>
                  <a:srgbClr val="1F7A8C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5878" y="2779776"/>
            <a:ext cx="222427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Disco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5878" y="3163824"/>
            <a:ext cx="2224278" cy="7955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mnesia / msg store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Arquivo em /var/lib/rabbitmq.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39612" y="2487168"/>
            <a:ext cx="109728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185916" y="2103120"/>
            <a:ext cx="259003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508" y="217627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1" i="0">
                <a:solidFill>
                  <a:srgbClr val="B9770E"/>
                </a:solidFill>
                <a:latin typeface="Century Schoolboo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2779776"/>
            <a:ext cx="222427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Consumer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8796" y="3163824"/>
            <a:ext cx="2224278" cy="7955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processa()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Lógica de negócio + commit no banco.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12530" y="2487168"/>
            <a:ext cx="109728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958834" y="2103120"/>
            <a:ext cx="259003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426" y="217627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1" i="0">
                <a:solidFill>
                  <a:srgbClr val="2F8F5B"/>
                </a:solidFill>
                <a:latin typeface="Century Schoolbook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1714" y="2779776"/>
            <a:ext cx="222427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1714" y="3163824"/>
            <a:ext cx="2224278" cy="7955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channel.ack()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Broker remove da fila (disco).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25112"/>
            <a:ext cx="1090879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471416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⚠ Sem 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800600"/>
            <a:ext cx="1046988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C1B22"/>
                </a:solidFill>
                <a:latin typeface="Calibri"/>
              </a:rPr>
              <a:t>Crash antes do ACK: a mensagem volta para o estado ready e é entregue de novo. Isso é o preço do at-least-once: necessário idempotência no processamento.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2F8F5B"/>
                </a:solidFill>
                <a:latin typeface="Calibri"/>
              </a:rPr>
              <a:t>IMPLEMENTAÇÃO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Implementação: Anti-Overbooking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SELECT FOR UPDATE evita a venda dupla do mesmo ingresso.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17236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267712"/>
            <a:ext cx="49149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50" b="1" i="0">
                <a:solidFill>
                  <a:srgbClr val="C0392B"/>
                </a:solidFill>
                <a:latin typeface="Calibri"/>
              </a:rPr>
              <a:t>Sem controle: o que pode acontecer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7" y="2884932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16352"/>
            <a:ext cx="467715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C1B22"/>
                </a:solidFill>
                <a:latin typeface="Calibri"/>
              </a:rPr>
              <a:t>Worker A lê available_tickets = 1, reserva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342132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273552"/>
            <a:ext cx="467715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C1B22"/>
                </a:solidFill>
                <a:latin typeface="Calibri"/>
              </a:rPr>
              <a:t>Worker B lê available_tickets = 1 ao mesmo tempo, reserva também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3858768"/>
            <a:ext cx="82296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5" y="3799331"/>
            <a:ext cx="4713732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Resultado: 2 vendas, 0 ingressos (overbooking)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2103120"/>
            <a:ext cx="5317236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8F5B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267712"/>
            <a:ext cx="49149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50" b="1" i="0">
                <a:solidFill>
                  <a:srgbClr val="2F8F5B"/>
                </a:solidFill>
                <a:latin typeface="Calibri"/>
              </a:rPr>
              <a:t>Com SELECT FOR UPDATE: nossa solução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32804" y="2816352"/>
            <a:ext cx="4914900" cy="1508760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7396" y="2926080"/>
            <a:ext cx="4585716" cy="1289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-- stock-worker/src/database.py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BEGIN;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SELECT * FROM events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  WHERE id = $1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  FOR UPDATE;   -- bloqueia outros workers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UPDATE events SET available_tickets -= $qty;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UPDATE orders SET status = 'stock_reserved';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F7A8C"/>
                </a:solidFill>
                <a:latin typeface="Courier New"/>
              </a:rPr>
              <a:t>COMMIT;         -- libera o lock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32804" y="4567428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0548" y="4498848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Worker B tenta e bloqueia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32804" y="4933188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0548" y="4864608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Aguarda Worker A commitar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32804" y="5298948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0548" y="5230368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Se estoque zerou: recebe out_of_stock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32804" y="5664708"/>
            <a:ext cx="82296" cy="82296"/>
          </a:xfrm>
          <a:prstGeom prst="rect">
            <a:avLst/>
          </a:prstGeom>
          <a:solidFill>
            <a:srgbClr val="2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0548" y="5596128"/>
            <a:ext cx="4677156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Sem overbooking possível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E8541E"/>
                </a:solidFill>
                <a:latin typeface="Calibri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TicketLab: Sistema de Venda de Ingressos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Materializa todos os conceitos vistos: o RabbitMQ é o protagonista, não infraestrutura oculta.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39"/>
            <a:ext cx="171145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3183"/>
            <a:ext cx="171145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0" b="1" i="0">
                <a:solidFill>
                  <a:srgbClr val="51606E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43860"/>
            <a:ext cx="1620012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React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88108" y="2478023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79548" y="2148839"/>
            <a:ext cx="171145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9548" y="2333183"/>
            <a:ext cx="171145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0" b="1" i="0">
                <a:solidFill>
                  <a:srgbClr val="1F7A8C"/>
                </a:solidFill>
                <a:latin typeface="Calibri"/>
              </a:rPr>
              <a:t>Producer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5268" y="2543860"/>
            <a:ext cx="1620012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FastAPI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27576" y="2478023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319016" y="2148839"/>
            <a:ext cx="171145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9016" y="2333183"/>
            <a:ext cx="171145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0" b="1" i="0">
                <a:solidFill>
                  <a:srgbClr val="E8541E"/>
                </a:solidFill>
                <a:latin typeface="Calibri"/>
              </a:rPr>
              <a:t>RabbitMQ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2543860"/>
            <a:ext cx="1620012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broker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67044" y="2478023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158484" y="2148839"/>
            <a:ext cx="171145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8484" y="2333183"/>
            <a:ext cx="171145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0" b="1" i="0">
                <a:solidFill>
                  <a:srgbClr val="2F8F5B"/>
                </a:solidFill>
                <a:latin typeface="Calibri"/>
              </a:rPr>
              <a:t>payment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4204" y="2543860"/>
            <a:ext cx="1620012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worker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06512" y="2478023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97952" y="2148839"/>
            <a:ext cx="171145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7952" y="2333183"/>
            <a:ext cx="171145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0" b="1" i="0">
                <a:solidFill>
                  <a:srgbClr val="2F8F5B"/>
                </a:solidFill>
                <a:latin typeface="Calibri"/>
              </a:rPr>
              <a:t>stock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3672" y="2543860"/>
            <a:ext cx="1620012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worker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45980" y="2478023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837420" y="2148839"/>
            <a:ext cx="171145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7420" y="2333183"/>
            <a:ext cx="1711452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50" b="1" i="0">
                <a:solidFill>
                  <a:srgbClr val="2F8F5B"/>
                </a:solidFill>
                <a:latin typeface="Calibri"/>
              </a:rPr>
              <a:t>notification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3140" y="2543860"/>
            <a:ext cx="1620012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0" i="0">
                <a:solidFill>
                  <a:srgbClr val="6C7884"/>
                </a:solidFill>
                <a:latin typeface="Calibri"/>
              </a:rPr>
              <a:t>worker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172967"/>
            <a:ext cx="2079345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6C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218687"/>
            <a:ext cx="2079345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>
                <a:solidFill>
                  <a:srgbClr val="6C7884"/>
                </a:solidFill>
                <a:latin typeface="Calibri"/>
              </a:rPr>
              <a:t>pending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56001" y="3364991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847441" y="3172967"/>
            <a:ext cx="2079345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47441" y="3218687"/>
            <a:ext cx="2079345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>
                <a:solidFill>
                  <a:srgbClr val="B9770E"/>
                </a:solidFill>
                <a:latin typeface="Calibri"/>
              </a:rPr>
              <a:t>processing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63363" y="3364991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054803" y="3172967"/>
            <a:ext cx="2079345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54803" y="3218687"/>
            <a:ext cx="2079345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>
                <a:solidFill>
                  <a:srgbClr val="B9770E"/>
                </a:solidFill>
                <a:latin typeface="Calibri"/>
              </a:rPr>
              <a:t>payment_approved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70724" y="3364991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262164" y="3172967"/>
            <a:ext cx="2079345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62164" y="3218687"/>
            <a:ext cx="2079345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>
                <a:solidFill>
                  <a:srgbClr val="B9770E"/>
                </a:solidFill>
                <a:latin typeface="Calibri"/>
              </a:rPr>
              <a:t>stock_reserved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78086" y="3364991"/>
            <a:ext cx="54864" cy="0"/>
          </a:xfrm>
          <a:prstGeom prst="line">
            <a:avLst/>
          </a:prstGeom>
          <a:ln w="20320">
            <a:solidFill>
              <a:srgbClr val="516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9469526" y="3172967"/>
            <a:ext cx="2079345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2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9526" y="3218687"/>
            <a:ext cx="2079345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>
                <a:solidFill>
                  <a:srgbClr val="2F8F5B"/>
                </a:solidFill>
                <a:latin typeface="Calibri"/>
              </a:rPr>
              <a:t>confirmed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3849623"/>
            <a:ext cx="5074920" cy="250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014215"/>
            <a:ext cx="4672583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50" b="1" i="0">
                <a:solidFill>
                  <a:srgbClr val="E8541E"/>
                </a:solidFill>
                <a:latin typeface="Calibri"/>
              </a:rPr>
              <a:t>Conceitos demonstrados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7" y="4485131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8992" y="4416551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Perfect Links: filas durable + PERSISTENT + ACK manual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7" y="4905755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2" y="4837175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Crash-stop: make kill-payment, sem perda de mensagens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7" y="5326379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" y="5257799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Race condition: SELECT FOR UPDATE, zero overbooking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7" y="5747003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" y="5678423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DLQ: make send-failures (30% falha) -&gt; make inspect-dlq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7" y="6167627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8992" y="6099047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1C1B22"/>
                </a:solidFill>
                <a:latin typeface="Calibri"/>
              </a:rPr>
              <a:t>Escalabilidade: make scale-workers N=5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3849623"/>
            <a:ext cx="5559552" cy="2505456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53912" y="3959351"/>
            <a:ext cx="5230368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53912" y="4215383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Frontend TicketLab: tela principal com eventos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53912" y="4672583"/>
            <a:ext cx="5230368" cy="1591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C7884"/>
                </a:solidFill>
                <a:latin typeface="Calibri"/>
              </a:rPr>
              <a:t>localhost:3000: capturar a Home com os cards de eventos (Coldplay, Lollapalooza etc.)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E8541E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Demo: Saga Coreografada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Um pedido passa por 4 etapas; cada uma é um worker independente.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59003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17627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E8541E"/>
                </a:solidFill>
                <a:latin typeface="Century Schoolboo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79776"/>
            <a:ext cx="222427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Compra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63824"/>
            <a:ext cx="2224278" cy="61264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Formulário preenchido -&gt; POST /orders.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API retorna status: pending de imediato.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Publica em ticket-sales (key=payment).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50791"/>
            <a:ext cx="2590038" cy="230428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160520"/>
            <a:ext cx="2260854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416552"/>
            <a:ext cx="2260854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localhost:3000/buy: formulário preenchido antes de clicar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12998" y="2103120"/>
            <a:ext cx="259003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7590" y="217627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1F7A8C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5878" y="2779776"/>
            <a:ext cx="222427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Pagamento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5878" y="3163824"/>
            <a:ext cx="2224278" cy="61264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payment-worker consome payment-queue.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Valida -&gt; publica em payment-approved.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Status: processing.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12998" y="4050791"/>
            <a:ext cx="2590038" cy="230428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7590" y="4160520"/>
            <a:ext cx="2260854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7590" y="4416552"/>
            <a:ext cx="2260854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localhost:3000/orders: status processing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5916" y="2103120"/>
            <a:ext cx="259003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217627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B9770E"/>
                </a:solidFill>
                <a:latin typeface="Century Schoolboo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779776"/>
            <a:ext cx="222427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Estoque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163824"/>
            <a:ext cx="2224278" cy="61264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stock-worker consome stock-queue.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SELECT FOR UPDATE reserva o ingresso.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Status: stock_reserved.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85916" y="4050791"/>
            <a:ext cx="2590038" cy="230428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508" y="4160520"/>
            <a:ext cx="2260854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508" y="4416552"/>
            <a:ext cx="2260854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Mesma sequência, capturar em seguida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8834" y="2103120"/>
            <a:ext cx="259003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3426" y="217627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2F8F5B"/>
                </a:solidFill>
                <a:latin typeface="Century Schoolbook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1714" y="2779776"/>
            <a:ext cx="222427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1C1B22"/>
                </a:solidFill>
                <a:latin typeface="Calibri"/>
              </a:rPr>
              <a:t>Confirmação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1714" y="3163824"/>
            <a:ext cx="2224278" cy="61264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notification-worker gera ticket_code (UUID).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Verifica idempotência.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C7884"/>
                </a:solidFill>
                <a:latin typeface="Calibri"/>
              </a:rPr>
              <a:t>Status: confirmed. Ingresso na mão do comprador.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58834" y="4050791"/>
            <a:ext cx="2590038" cy="230428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23426" y="4160520"/>
            <a:ext cx="2260854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3426" y="4416552"/>
            <a:ext cx="2260854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localhost:3000/orders: detalhe com status confirmed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C0392B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5451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1C1B22"/>
                </a:solidFill>
                <a:latin typeface="Century Schoolbook"/>
              </a:rPr>
              <a:t>Demo: Falhas na Prática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i="1">
                <a:solidFill>
                  <a:srgbClr val="51606E"/>
                </a:solidFill>
                <a:latin typeface="Calibri"/>
              </a:rPr>
              <a:t>Três cenários: o sistema é resiliente.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4899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267712"/>
            <a:ext cx="31242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50" b="1" i="0">
                <a:solidFill>
                  <a:srgbClr val="C0392B"/>
                </a:solidFill>
                <a:latin typeface="Calibri"/>
              </a:rPr>
              <a:t>Dead Letter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59" y="2761487"/>
            <a:ext cx="3124200" cy="566928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1" y="2871215"/>
            <a:ext cx="2795016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7A8C"/>
                </a:solidFill>
                <a:latin typeface="Courier New"/>
              </a:rPr>
              <a:t>make send-failures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7A8C"/>
                </a:solidFill>
                <a:latin typeface="Courier New"/>
              </a:rPr>
              <a:t>make inspect-dlq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83279"/>
            <a:ext cx="31242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C7884"/>
                </a:solidFill>
                <a:latin typeface="Calibri"/>
              </a:rPr>
              <a:t>30% dos pedidos com simulate_failure. 3 retries, depois NACK -&gt; DLQ.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50791"/>
            <a:ext cx="3489960" cy="230428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160520"/>
            <a:ext cx="3160776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416552"/>
            <a:ext cx="3160776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RabbitMQ UI: dead-letter-queue com N mensagens (localhost:15672)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9496" y="2103120"/>
            <a:ext cx="34899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2376" y="2267712"/>
            <a:ext cx="31242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50" b="1" i="0">
                <a:solidFill>
                  <a:srgbClr val="B9770E"/>
                </a:solidFill>
                <a:latin typeface="Calibri"/>
              </a:rPr>
              <a:t>Crash-stop Worker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2376" y="2761487"/>
            <a:ext cx="3124200" cy="566928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6968" y="2871215"/>
            <a:ext cx="2795016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7A8C"/>
                </a:solidFill>
                <a:latin typeface="Courier New"/>
              </a:rPr>
              <a:t>make send-1000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7A8C"/>
                </a:solidFill>
                <a:latin typeface="Courier New"/>
              </a:rPr>
              <a:t>make kill-payment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7A8C"/>
                </a:solidFill>
                <a:latin typeface="Courier New"/>
              </a:rPr>
              <a:t>make logs-payment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2376" y="3383279"/>
            <a:ext cx="31242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C7884"/>
                </a:solidFill>
                <a:latin typeface="Calibri"/>
              </a:rPr>
              <a:t>Outro worker assume as mensagens unacked automaticamente.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9496" y="4050791"/>
            <a:ext cx="3489960" cy="230428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4088" y="4160520"/>
            <a:ext cx="3160776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4088" y="4416552"/>
            <a:ext cx="3160776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Grafana: consumer count caindo de 2 para 1 (localhost:3001)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58911" y="2103120"/>
            <a:ext cx="34899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</a:ln>
          <a:effectLst>
            <a:outerShdw blurRad="101600" dist="25400" dir="5400000" algn="bl" rotWithShape="0">
              <a:srgbClr val="8A8F9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1791" y="2267712"/>
            <a:ext cx="31242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350" b="1" i="0">
                <a:solidFill>
                  <a:srgbClr val="2F8F5B"/>
                </a:solidFill>
                <a:latin typeface="Calibri"/>
              </a:rPr>
              <a:t>Crash-recovery Broker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41791" y="2761487"/>
            <a:ext cx="3124200" cy="566928"/>
          </a:xfrm>
          <a:prstGeom prst="rect">
            <a:avLst/>
          </a:prstGeom>
          <a:solidFill>
            <a:srgbClr val="E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6383" y="2871215"/>
            <a:ext cx="2795016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7A8C"/>
                </a:solidFill>
                <a:latin typeface="Courier New"/>
              </a:rPr>
              <a:t>make restart-rabbit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1791" y="3383279"/>
            <a:ext cx="3124200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C7884"/>
                </a:solidFill>
                <a:latin typeface="Calibri"/>
              </a:rPr>
              <a:t>Mensagens PERSISTENT no disco. Workers reconectam com connect_robust.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8911" y="4050791"/>
            <a:ext cx="3489960" cy="2304288"/>
          </a:xfrm>
          <a:prstGeom prst="rect">
            <a:avLst/>
          </a:prstGeom>
          <a:solidFill>
            <a:srgbClr val="FCEEE6"/>
          </a:solidFill>
          <a:ln w="15240">
            <a:solidFill>
              <a:srgbClr val="E8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3503" y="4160520"/>
            <a:ext cx="3160776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950" b="1" i="0" spc="60">
                <a:solidFill>
                  <a:srgbClr val="E8541E"/>
                </a:solidFill>
                <a:latin typeface="Calibri"/>
              </a:rPr>
              <a:t>[ SCREENSHOT · SUBSTITUIR 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3503" y="4416552"/>
            <a:ext cx="3160776" cy="502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1C1B22"/>
                </a:solidFill>
                <a:latin typeface="Calibri"/>
              </a:rPr>
              <a:t>RabbitMQ UI após restart: filas intactas (localhost:15672)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3112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00" b="0" i="0">
                <a:solidFill>
                  <a:srgbClr val="6C788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1C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94360"/>
            <a:ext cx="118872" cy="118872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166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 spc="220">
                <a:solidFill>
                  <a:srgbClr val="E8541E"/>
                </a:solidFill>
                <a:latin typeface="Calibr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10908792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entury Schoolbook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400" b="0" i="1">
                <a:solidFill>
                  <a:srgbClr val="C9CDD4"/>
                </a:solidFill>
                <a:latin typeface="Calibri"/>
              </a:rPr>
              <a:t>O que aprendemos sobre o RabbitMQ em Sistemas Distribuídos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84831"/>
            <a:ext cx="3246120" cy="384048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084831"/>
            <a:ext cx="3081527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1C1B22"/>
                </a:solidFill>
                <a:latin typeface="Calibri"/>
              </a:rPr>
              <a:t>QUESTÃO DO PROFESSOR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050791" y="2084831"/>
            <a:ext cx="7498080" cy="384048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5383" y="2084831"/>
            <a:ext cx="733348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1C1B22"/>
                </a:solidFill>
                <a:latin typeface="Calibri"/>
              </a:rPr>
              <a:t>RESPOSTA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32887"/>
            <a:ext cx="3246120" cy="352044"/>
          </a:xfrm>
          <a:prstGeom prst="rect">
            <a:avLst/>
          </a:prstGeom>
          <a:solidFill>
            <a:srgbClr val="24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532887"/>
            <a:ext cx="2971800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E8541E"/>
                </a:solidFill>
                <a:latin typeface="Calibri"/>
              </a:rPr>
              <a:t>Onde é usado?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50791" y="2532887"/>
            <a:ext cx="7498080" cy="352044"/>
          </a:xfrm>
          <a:prstGeom prst="rect">
            <a:avLst/>
          </a:prstGeom>
          <a:solidFill>
            <a:srgbClr val="24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5383" y="2532887"/>
            <a:ext cx="7205472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C9CDD4"/>
                </a:solidFill>
                <a:latin typeface="Calibri"/>
              </a:rPr>
              <a:t>E-commerce, IoT, bancos, microserviços: desacoplamento temporal.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48939"/>
            <a:ext cx="3246120" cy="352044"/>
          </a:xfrm>
          <a:prstGeom prst="rect">
            <a:avLst/>
          </a:prstGeom>
          <a:solidFill>
            <a:srgbClr val="1C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2948939"/>
            <a:ext cx="2971800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E8541E"/>
                </a:solidFill>
                <a:latin typeface="Calibri"/>
              </a:rPr>
              <a:t>Funcionalidades?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50791" y="2948939"/>
            <a:ext cx="7498080" cy="352044"/>
          </a:xfrm>
          <a:prstGeom prst="rect">
            <a:avLst/>
          </a:prstGeom>
          <a:solidFill>
            <a:srgbClr val="1C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3" y="2948939"/>
            <a:ext cx="7205472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C9CDD4"/>
                </a:solidFill>
                <a:latin typeface="Calibri"/>
              </a:rPr>
              <a:t>Exchanges, durable queues, PERSISTENT, ACK, DLX, QoS, plugins.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64991"/>
            <a:ext cx="3246120" cy="352044"/>
          </a:xfrm>
          <a:prstGeom prst="rect">
            <a:avLst/>
          </a:prstGeom>
          <a:solidFill>
            <a:srgbClr val="24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3364991"/>
            <a:ext cx="2971800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E8541E"/>
                </a:solidFill>
                <a:latin typeface="Calibri"/>
              </a:rPr>
              <a:t>Falhas suportadas?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50791" y="3364991"/>
            <a:ext cx="7498080" cy="352044"/>
          </a:xfrm>
          <a:prstGeom prst="rect">
            <a:avLst/>
          </a:prstGeom>
          <a:solidFill>
            <a:srgbClr val="24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15383" y="3364991"/>
            <a:ext cx="7205472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C9CDD4"/>
                </a:solidFill>
                <a:latin typeface="Calibri"/>
              </a:rPr>
              <a:t>Crash-stop, crash-recovery, retry+DLQ. Não suporta Byzantine.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781044"/>
            <a:ext cx="3246120" cy="352044"/>
          </a:xfrm>
          <a:prstGeom prst="rect">
            <a:avLst/>
          </a:prstGeom>
          <a:solidFill>
            <a:srgbClr val="1C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3781044"/>
            <a:ext cx="2971800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E8541E"/>
                </a:solidFill>
                <a:latin typeface="Calibri"/>
              </a:rPr>
              <a:t>Confiabilidade?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50791" y="3781044"/>
            <a:ext cx="7498080" cy="352044"/>
          </a:xfrm>
          <a:prstGeom prst="rect">
            <a:avLst/>
          </a:prstGeom>
          <a:solidFill>
            <a:srgbClr val="1C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15383" y="3781044"/>
            <a:ext cx="7205472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C9CDD4"/>
                </a:solidFill>
                <a:latin typeface="Calibri"/>
              </a:rPr>
              <a:t>Perfect Links (at-least-once) + aproximação de Reliable Broadcast.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197096"/>
            <a:ext cx="3246120" cy="352044"/>
          </a:xfrm>
          <a:prstGeom prst="rect">
            <a:avLst/>
          </a:prstGeom>
          <a:solidFill>
            <a:srgbClr val="24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1" y="4197096"/>
            <a:ext cx="2971800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E8541E"/>
                </a:solidFill>
                <a:latin typeface="Calibri"/>
              </a:rPr>
              <a:t>Ordenação?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50791" y="4197096"/>
            <a:ext cx="7498080" cy="352044"/>
          </a:xfrm>
          <a:prstGeom prst="rect">
            <a:avLst/>
          </a:prstGeom>
          <a:solidFill>
            <a:srgbClr val="242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15383" y="4197096"/>
            <a:ext cx="7205472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C9CDD4"/>
                </a:solidFill>
                <a:latin typeface="Calibri"/>
              </a:rPr>
              <a:t>FIFO com 1 consumer. N consumers requer particionamento.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613148"/>
            <a:ext cx="3246120" cy="352044"/>
          </a:xfrm>
          <a:prstGeom prst="rect">
            <a:avLst/>
          </a:prstGeom>
          <a:solidFill>
            <a:srgbClr val="1C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1" y="4613148"/>
            <a:ext cx="2971800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E8541E"/>
                </a:solidFill>
                <a:latin typeface="Calibri"/>
              </a:rPr>
              <a:t>Implementação?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50791" y="4613148"/>
            <a:ext cx="7498080" cy="352044"/>
          </a:xfrm>
          <a:prstGeom prst="rect">
            <a:avLst/>
          </a:prstGeom>
          <a:solidFill>
            <a:srgbClr val="1C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15383" y="4613148"/>
            <a:ext cx="7205472" cy="3520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C9CDD4"/>
                </a:solidFill>
                <a:latin typeface="Calibri"/>
              </a:rPr>
              <a:t>AMQP 0-9-1, Erlang/Mnesia, protocolo ACK, SELECT FOR UPDATE.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12064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E8541E"/>
                </a:solidFill>
                <a:latin typeface="Calibri"/>
              </a:rPr>
              <a:t>Próximos passos para produção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554980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" y="5486400"/>
            <a:ext cx="106710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C9CDD4"/>
                </a:solidFill>
                <a:latin typeface="Calibri"/>
              </a:rPr>
              <a:t>Publisher confirms: Reliable Broadcast formal (saindo do BEB)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865876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5797296"/>
            <a:ext cx="106710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C9CDD4"/>
                </a:solidFill>
                <a:latin typeface="Calibri"/>
              </a:rPr>
              <a:t>Outbox Pattern: zero perda durante partição producer-broker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176772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6108192"/>
            <a:ext cx="106710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C9CDD4"/>
                </a:solidFill>
                <a:latin typeface="Calibri"/>
              </a:rPr>
              <a:t>Quorum Queues (Raft): aproximação de URB nativa no RabbitMQ 3.8+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6487668"/>
            <a:ext cx="82296" cy="82296"/>
          </a:xfrm>
          <a:prstGeom prst="rect">
            <a:avLst/>
          </a:prstGeom>
          <a:solidFill>
            <a:srgbClr val="E8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6419088"/>
            <a:ext cx="106710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50" b="0" i="0">
                <a:solidFill>
                  <a:srgbClr val="C9CDD4"/>
                </a:solidFill>
                <a:latin typeface="Calibri"/>
              </a:rPr>
              <a:t>Kafka + partition keys: ordem total por evento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46520"/>
            <a:ext cx="10908792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E8541E"/>
                </a:solidFill>
                <a:latin typeface="Calibri"/>
              </a:rPr>
              <a:t>Obrigado. Ficamos à disposição para perguntas.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